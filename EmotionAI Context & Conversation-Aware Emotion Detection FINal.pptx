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Arimo" panose="020B0604020202020204" charset="0"/>
      <p:regular r:id="rId24"/>
    </p:embeddedFont>
    <p:embeddedFont>
      <p:font typeface="Cabin" panose="020B0604020202020204" charset="0"/>
      <p:regular r:id="rId25"/>
    </p:embeddedFont>
    <p:embeddedFont>
      <p:font typeface="Cabin Bold" panose="020B0604020202020204" charset="0"/>
      <p:regular r:id="rId26"/>
    </p:embeddedFont>
    <p:embeddedFont>
      <p:font typeface="Canva Sans" panose="020B0604020202020204" charset="0"/>
      <p:regular r:id="rId27"/>
    </p:embeddedFont>
    <p:embeddedFont>
      <p:font typeface="Canva Sans Bold" panose="020B0604020202020204" charset="0"/>
      <p:regular r:id="rId28"/>
    </p:embeddedFont>
    <p:embeddedFont>
      <p:font typeface="Maven Pro" panose="020B0604020202020204" charset="0"/>
      <p:regular r:id="rId29"/>
    </p:embeddedFont>
    <p:embeddedFont>
      <p:font typeface="Maven Pro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9" d="100"/>
          <a:sy n="49" d="100"/>
        </p:scale>
        <p:origin x="38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FA243F-6497-40FD-8A96-53FD449D7B98}"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7D385-51B4-45C7-B073-4D562565E57A}" type="slidenum">
              <a:rPr lang="en-IN" smtClean="0"/>
              <a:t>‹#›</a:t>
            </a:fld>
            <a:endParaRPr lang="en-IN"/>
          </a:p>
        </p:txBody>
      </p:sp>
    </p:spTree>
    <p:extLst>
      <p:ext uri="{BB962C8B-B14F-4D97-AF65-F5344CB8AC3E}">
        <p14:creationId xmlns:p14="http://schemas.microsoft.com/office/powerpoint/2010/main" val="2083409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F7D385-51B4-45C7-B073-4D562565E57A}" type="slidenum">
              <a:rPr lang="en-IN" smtClean="0"/>
              <a:t>5</a:t>
            </a:fld>
            <a:endParaRPr lang="en-IN"/>
          </a:p>
        </p:txBody>
      </p:sp>
    </p:spTree>
    <p:extLst>
      <p:ext uri="{BB962C8B-B14F-4D97-AF65-F5344CB8AC3E}">
        <p14:creationId xmlns:p14="http://schemas.microsoft.com/office/powerpoint/2010/main" val="392582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3" Type="http://schemas.openxmlformats.org/officeDocument/2006/relationships/hyperlink" Target="https://www.kaggle.com" TargetMode="External"/><Relationship Id="rId2" Type="http://schemas.openxmlformats.org/officeDocument/2006/relationships/hyperlink" Target="https://huggingface.co" TargetMode="Externa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sv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441610" y="3796975"/>
            <a:ext cx="13112360" cy="3730687"/>
          </a:xfrm>
          <a:prstGeom prst="rect">
            <a:avLst/>
          </a:prstGeom>
        </p:spPr>
        <p:txBody>
          <a:bodyPr lIns="0" tIns="0" rIns="0" bIns="0" rtlCol="0" anchor="t">
            <a:spAutoFit/>
          </a:bodyPr>
          <a:lstStyle/>
          <a:p>
            <a:pPr algn="ctr">
              <a:lnSpc>
                <a:spcPts val="7150"/>
              </a:lnSpc>
            </a:pPr>
            <a:r>
              <a:rPr lang="en-US" sz="8938" b="1">
                <a:solidFill>
                  <a:srgbClr val="252930"/>
                </a:solidFill>
                <a:latin typeface="Cabin Bold"/>
                <a:ea typeface="Cabin Bold"/>
                <a:cs typeface="Cabin Bold"/>
                <a:sym typeface="Cabin Bold"/>
              </a:rPr>
              <a:t>EMOTIONAI: CONTEXT &amp; CONVERSATION-AWARE EMOTION DETECTION </a:t>
            </a:r>
          </a:p>
          <a:p>
            <a:pPr algn="ctr">
              <a:lnSpc>
                <a:spcPts val="7150"/>
              </a:lnSpc>
            </a:pPr>
            <a:endParaRPr lang="en-US" sz="8938" b="1">
              <a:solidFill>
                <a:srgbClr val="252930"/>
              </a:solidFill>
              <a:latin typeface="Cabin Bold"/>
              <a:ea typeface="Cabin Bold"/>
              <a:cs typeface="Cabin Bold"/>
              <a:sym typeface="Cabin Bold"/>
            </a:endParaRPr>
          </a:p>
        </p:txBody>
      </p:sp>
      <p:sp>
        <p:nvSpPr>
          <p:cNvPr id="3" name="Freeform 3"/>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flipV="1">
            <a:off x="14297025" y="6296025"/>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0" y="8039083"/>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7657548" y="293921"/>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1028700"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8" name="Freeform 8"/>
          <p:cNvSpPr/>
          <p:nvPr/>
        </p:nvSpPr>
        <p:spPr>
          <a:xfrm flipV="1">
            <a:off x="14542983" y="-104775"/>
            <a:ext cx="2716317" cy="1358159"/>
          </a:xfrm>
          <a:custGeom>
            <a:avLst/>
            <a:gdLst/>
            <a:ahLst/>
            <a:cxnLst/>
            <a:rect l="l" t="t" r="r" b="b"/>
            <a:pathLst>
              <a:path w="2716317" h="1358159">
                <a:moveTo>
                  <a:pt x="0" y="1358159"/>
                </a:moveTo>
                <a:lnTo>
                  <a:pt x="2716317" y="1358159"/>
                </a:lnTo>
                <a:lnTo>
                  <a:pt x="2716317" y="0"/>
                </a:lnTo>
                <a:lnTo>
                  <a:pt x="0" y="0"/>
                </a:lnTo>
                <a:lnTo>
                  <a:pt x="0" y="135815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9" name="Freeform 9"/>
          <p:cNvSpPr/>
          <p:nvPr/>
        </p:nvSpPr>
        <p:spPr>
          <a:xfrm>
            <a:off x="0" y="0"/>
            <a:ext cx="5349609" cy="1566933"/>
          </a:xfrm>
          <a:custGeom>
            <a:avLst/>
            <a:gdLst/>
            <a:ahLst/>
            <a:cxnLst/>
            <a:rect l="l" t="t" r="r" b="b"/>
            <a:pathLst>
              <a:path w="5349609" h="1566933">
                <a:moveTo>
                  <a:pt x="0" y="0"/>
                </a:moveTo>
                <a:lnTo>
                  <a:pt x="5349609" y="0"/>
                </a:lnTo>
                <a:lnTo>
                  <a:pt x="5349609" y="1566933"/>
                </a:lnTo>
                <a:lnTo>
                  <a:pt x="0" y="1566933"/>
                </a:lnTo>
                <a:lnTo>
                  <a:pt x="0" y="0"/>
                </a:lnTo>
                <a:close/>
              </a:path>
            </a:pathLst>
          </a:custGeom>
          <a:blipFill>
            <a:blip r:embed="rId5"/>
            <a:stretch>
              <a:fillRect/>
            </a:stretch>
          </a:blipFill>
        </p:spPr>
        <p:txBody>
          <a:bodyPr/>
          <a:lstStyle/>
          <a:p>
            <a:endParaRPr lang="en-IN"/>
          </a:p>
        </p:txBody>
      </p:sp>
      <p:sp>
        <p:nvSpPr>
          <p:cNvPr id="10" name="TextBox 10"/>
          <p:cNvSpPr txBox="1"/>
          <p:nvPr/>
        </p:nvSpPr>
        <p:spPr>
          <a:xfrm>
            <a:off x="2036454" y="7089687"/>
            <a:ext cx="3762200" cy="2809527"/>
          </a:xfrm>
          <a:prstGeom prst="rect">
            <a:avLst/>
          </a:prstGeom>
        </p:spPr>
        <p:txBody>
          <a:bodyPr lIns="0" tIns="0" rIns="0" bIns="0" rtlCol="0" anchor="t">
            <a:spAutoFit/>
          </a:bodyPr>
          <a:lstStyle/>
          <a:p>
            <a:pPr algn="ctr">
              <a:lnSpc>
                <a:spcPts val="3736"/>
              </a:lnSpc>
            </a:pPr>
            <a:r>
              <a:rPr lang="en-US" sz="3736">
                <a:solidFill>
                  <a:srgbClr val="252930"/>
                </a:solidFill>
                <a:latin typeface="Cabin"/>
                <a:ea typeface="Cabin"/>
                <a:cs typeface="Cabin"/>
                <a:sym typeface="Cabin"/>
              </a:rPr>
              <a:t>Submitted By:</a:t>
            </a:r>
          </a:p>
          <a:p>
            <a:pPr algn="ctr">
              <a:lnSpc>
                <a:spcPts val="3736"/>
              </a:lnSpc>
            </a:pPr>
            <a:r>
              <a:rPr lang="en-US" sz="3736">
                <a:solidFill>
                  <a:srgbClr val="252930"/>
                </a:solidFill>
                <a:latin typeface="Cabin"/>
                <a:ea typeface="Cabin"/>
                <a:cs typeface="Cabin"/>
                <a:sym typeface="Cabin"/>
              </a:rPr>
              <a:t>Kakul Barsaiya</a:t>
            </a:r>
          </a:p>
          <a:p>
            <a:pPr algn="ctr">
              <a:lnSpc>
                <a:spcPts val="3636"/>
              </a:lnSpc>
            </a:pPr>
            <a:r>
              <a:rPr lang="en-US" sz="3636">
                <a:solidFill>
                  <a:srgbClr val="252930"/>
                </a:solidFill>
                <a:latin typeface="Cabin"/>
                <a:ea typeface="Cabin"/>
                <a:cs typeface="Cabin"/>
                <a:sym typeface="Cabin"/>
              </a:rPr>
              <a:t>23FE10CSE00261</a:t>
            </a:r>
          </a:p>
          <a:p>
            <a:pPr algn="l">
              <a:lnSpc>
                <a:spcPts val="3736"/>
              </a:lnSpc>
            </a:pPr>
            <a:endParaRPr lang="en-US" sz="3636">
              <a:solidFill>
                <a:srgbClr val="252930"/>
              </a:solidFill>
              <a:latin typeface="Cabin"/>
              <a:ea typeface="Cabin"/>
              <a:cs typeface="Cabin"/>
              <a:sym typeface="Cabin"/>
            </a:endParaRPr>
          </a:p>
          <a:p>
            <a:pPr algn="l">
              <a:lnSpc>
                <a:spcPts val="3736"/>
              </a:lnSpc>
            </a:pPr>
            <a:endParaRPr lang="en-US" sz="3636">
              <a:solidFill>
                <a:srgbClr val="252930"/>
              </a:solidFill>
              <a:latin typeface="Cabin"/>
              <a:ea typeface="Cabin"/>
              <a:cs typeface="Cabin"/>
              <a:sym typeface="Cabin"/>
            </a:endParaRPr>
          </a:p>
          <a:p>
            <a:pPr algn="ctr">
              <a:lnSpc>
                <a:spcPts val="3736"/>
              </a:lnSpc>
            </a:pPr>
            <a:endParaRPr lang="en-US" sz="3636">
              <a:solidFill>
                <a:srgbClr val="252930"/>
              </a:solidFill>
              <a:latin typeface="Cabin"/>
              <a:ea typeface="Cabin"/>
              <a:cs typeface="Cabin"/>
              <a:sym typeface="Cabin"/>
            </a:endParaRPr>
          </a:p>
        </p:txBody>
      </p:sp>
      <p:sp>
        <p:nvSpPr>
          <p:cNvPr id="11" name="TextBox 11"/>
          <p:cNvSpPr txBox="1"/>
          <p:nvPr/>
        </p:nvSpPr>
        <p:spPr>
          <a:xfrm>
            <a:off x="2386859" y="1876425"/>
            <a:ext cx="13221863" cy="2719345"/>
          </a:xfrm>
          <a:prstGeom prst="rect">
            <a:avLst/>
          </a:prstGeom>
        </p:spPr>
        <p:txBody>
          <a:bodyPr lIns="0" tIns="0" rIns="0" bIns="0" rtlCol="0" anchor="t">
            <a:spAutoFit/>
          </a:bodyPr>
          <a:lstStyle/>
          <a:p>
            <a:pPr algn="ctr">
              <a:lnSpc>
                <a:spcPts val="5514"/>
              </a:lnSpc>
              <a:spcBef>
                <a:spcPct val="0"/>
              </a:spcBef>
            </a:pPr>
            <a:r>
              <a:rPr lang="en-US" sz="3939" b="1">
                <a:solidFill>
                  <a:srgbClr val="252930"/>
                </a:solidFill>
                <a:latin typeface="Cabin Bold"/>
                <a:ea typeface="Cabin Bold"/>
                <a:cs typeface="Cabin Bold"/>
                <a:sym typeface="Cabin Bold"/>
              </a:rPr>
              <a:t>SCHOOL OF COMPUTER SCIENCE AND ENGINEERING</a:t>
            </a:r>
          </a:p>
          <a:p>
            <a:pPr algn="ctr">
              <a:lnSpc>
                <a:spcPts val="5234"/>
              </a:lnSpc>
              <a:spcBef>
                <a:spcPct val="0"/>
              </a:spcBef>
            </a:pPr>
            <a:r>
              <a:rPr lang="en-US" sz="3739" b="1">
                <a:solidFill>
                  <a:srgbClr val="252930"/>
                </a:solidFill>
                <a:latin typeface="Cabin Bold"/>
                <a:ea typeface="Cabin Bold"/>
                <a:cs typeface="Cabin Bold"/>
                <a:sym typeface="Cabin Bold"/>
              </a:rPr>
              <a:t>DEPARTMENT OF COMPUTER SCIENCE AND ENGINEERING</a:t>
            </a:r>
          </a:p>
          <a:p>
            <a:pPr algn="ctr">
              <a:lnSpc>
                <a:spcPts val="5514"/>
              </a:lnSpc>
              <a:spcBef>
                <a:spcPct val="0"/>
              </a:spcBef>
            </a:pPr>
            <a:endParaRPr lang="en-US" sz="3739" b="1">
              <a:solidFill>
                <a:srgbClr val="252930"/>
              </a:solidFill>
              <a:latin typeface="Cabin Bold"/>
              <a:ea typeface="Cabin Bold"/>
              <a:cs typeface="Cabin Bold"/>
              <a:sym typeface="Cabin Bold"/>
            </a:endParaRPr>
          </a:p>
          <a:p>
            <a:pPr algn="ctr">
              <a:lnSpc>
                <a:spcPts val="5514"/>
              </a:lnSpc>
              <a:spcBef>
                <a:spcPct val="0"/>
              </a:spcBef>
            </a:pPr>
            <a:endParaRPr lang="en-US" sz="3739" b="1">
              <a:solidFill>
                <a:srgbClr val="252930"/>
              </a:solidFill>
              <a:latin typeface="Cabin Bold"/>
              <a:ea typeface="Cabin Bold"/>
              <a:cs typeface="Cabin Bold"/>
              <a:sym typeface="Cabin Bold"/>
            </a:endParaRPr>
          </a:p>
        </p:txBody>
      </p:sp>
      <p:sp>
        <p:nvSpPr>
          <p:cNvPr id="12" name="TextBox 12"/>
          <p:cNvSpPr txBox="1"/>
          <p:nvPr/>
        </p:nvSpPr>
        <p:spPr>
          <a:xfrm>
            <a:off x="13016027" y="7089687"/>
            <a:ext cx="4243273" cy="952152"/>
          </a:xfrm>
          <a:prstGeom prst="rect">
            <a:avLst/>
          </a:prstGeom>
        </p:spPr>
        <p:txBody>
          <a:bodyPr lIns="0" tIns="0" rIns="0" bIns="0" rtlCol="0" anchor="t">
            <a:spAutoFit/>
          </a:bodyPr>
          <a:lstStyle/>
          <a:p>
            <a:pPr algn="ctr">
              <a:lnSpc>
                <a:spcPts val="3736"/>
              </a:lnSpc>
            </a:pPr>
            <a:r>
              <a:rPr lang="en-US" sz="3736">
                <a:solidFill>
                  <a:srgbClr val="252930"/>
                </a:solidFill>
                <a:latin typeface="Cabin"/>
                <a:ea typeface="Cabin"/>
                <a:cs typeface="Cabin"/>
                <a:sym typeface="Cabin"/>
              </a:rPr>
              <a:t>Supervised By:</a:t>
            </a:r>
          </a:p>
          <a:p>
            <a:pPr algn="l">
              <a:lnSpc>
                <a:spcPts val="3736"/>
              </a:lnSpc>
            </a:pPr>
            <a:r>
              <a:rPr lang="en-US" sz="3736">
                <a:solidFill>
                  <a:srgbClr val="252930"/>
                </a:solidFill>
                <a:latin typeface="Cabin"/>
                <a:ea typeface="Cabin"/>
                <a:cs typeface="Cabin"/>
                <a:sym typeface="Cabin"/>
              </a:rPr>
              <a:t>Dr. Shikha Mundra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pSp>
        <p:nvGrpSpPr>
          <p:cNvPr id="2" name="Group 2"/>
          <p:cNvGrpSpPr/>
          <p:nvPr/>
        </p:nvGrpSpPr>
        <p:grpSpPr>
          <a:xfrm>
            <a:off x="2160009" y="3429683"/>
            <a:ext cx="13967983" cy="5377784"/>
            <a:chOff x="0" y="0"/>
            <a:chExt cx="3678810" cy="1416371"/>
          </a:xfrm>
        </p:grpSpPr>
        <p:sp>
          <p:nvSpPr>
            <p:cNvPr id="3" name="Freeform 3"/>
            <p:cNvSpPr/>
            <p:nvPr/>
          </p:nvSpPr>
          <p:spPr>
            <a:xfrm>
              <a:off x="0" y="0"/>
              <a:ext cx="3678810" cy="1416371"/>
            </a:xfrm>
            <a:custGeom>
              <a:avLst/>
              <a:gdLst/>
              <a:ahLst/>
              <a:cxnLst/>
              <a:rect l="l" t="t" r="r" b="b"/>
              <a:pathLst>
                <a:path w="3678810" h="1416371">
                  <a:moveTo>
                    <a:pt x="28267" y="0"/>
                  </a:moveTo>
                  <a:lnTo>
                    <a:pt x="3650543" y="0"/>
                  </a:lnTo>
                  <a:cubicBezTo>
                    <a:pt x="3666155" y="0"/>
                    <a:pt x="3678810" y="12656"/>
                    <a:pt x="3678810" y="28267"/>
                  </a:cubicBezTo>
                  <a:lnTo>
                    <a:pt x="3678810" y="1388104"/>
                  </a:lnTo>
                  <a:cubicBezTo>
                    <a:pt x="3678810" y="1403715"/>
                    <a:pt x="3666155" y="1416371"/>
                    <a:pt x="3650543" y="1416371"/>
                  </a:cubicBezTo>
                  <a:lnTo>
                    <a:pt x="28267" y="1416371"/>
                  </a:lnTo>
                  <a:cubicBezTo>
                    <a:pt x="20770" y="1416371"/>
                    <a:pt x="13580" y="1413393"/>
                    <a:pt x="8279" y="1408092"/>
                  </a:cubicBezTo>
                  <a:cubicBezTo>
                    <a:pt x="2978" y="1402791"/>
                    <a:pt x="0" y="1395601"/>
                    <a:pt x="0" y="1388104"/>
                  </a:cubicBezTo>
                  <a:lnTo>
                    <a:pt x="0" y="28267"/>
                  </a:lnTo>
                  <a:cubicBezTo>
                    <a:pt x="0" y="12656"/>
                    <a:pt x="12656" y="0"/>
                    <a:pt x="28267" y="0"/>
                  </a:cubicBezTo>
                  <a:close/>
                </a:path>
              </a:pathLst>
            </a:custGeom>
            <a:solidFill>
              <a:srgbClr val="C0B3A0">
                <a:alpha val="20784"/>
              </a:srgbClr>
            </a:solidFill>
            <a:ln w="47625" cap="rnd">
              <a:solidFill>
                <a:srgbClr val="000000">
                  <a:alpha val="20784"/>
                </a:srgbClr>
              </a:solidFill>
              <a:prstDash val="solid"/>
              <a:round/>
            </a:ln>
          </p:spPr>
          <p:txBody>
            <a:bodyPr/>
            <a:lstStyle/>
            <a:p>
              <a:endParaRPr lang="en-IN"/>
            </a:p>
          </p:txBody>
        </p:sp>
        <p:sp>
          <p:nvSpPr>
            <p:cNvPr id="4" name="TextBox 4"/>
            <p:cNvSpPr txBox="1"/>
            <p:nvPr/>
          </p:nvSpPr>
          <p:spPr>
            <a:xfrm>
              <a:off x="0" y="-38100"/>
              <a:ext cx="3678810" cy="1454471"/>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907324" y="3960171"/>
            <a:ext cx="5092767" cy="3682454"/>
            <a:chOff x="0" y="0"/>
            <a:chExt cx="6790356" cy="4909939"/>
          </a:xfrm>
        </p:grpSpPr>
        <p:sp>
          <p:nvSpPr>
            <p:cNvPr id="6" name="TextBox 6"/>
            <p:cNvSpPr txBox="1"/>
            <p:nvPr/>
          </p:nvSpPr>
          <p:spPr>
            <a:xfrm>
              <a:off x="0" y="-295275"/>
              <a:ext cx="6401376" cy="1061571"/>
            </a:xfrm>
            <a:prstGeom prst="rect">
              <a:avLst/>
            </a:prstGeom>
          </p:spPr>
          <p:txBody>
            <a:bodyPr lIns="0" tIns="0" rIns="0" bIns="0" rtlCol="0" anchor="t">
              <a:spAutoFit/>
            </a:bodyPr>
            <a:lstStyle/>
            <a:p>
              <a:pPr marL="822545" lvl="1" indent="-411272" algn="just">
                <a:lnSpc>
                  <a:spcPts val="7619"/>
                </a:lnSpc>
                <a:buFont typeface="Arial"/>
                <a:buChar char="•"/>
              </a:pPr>
              <a:r>
                <a:rPr lang="en-US" sz="3809">
                  <a:solidFill>
                    <a:srgbClr val="252930"/>
                  </a:solidFill>
                  <a:latin typeface="Cabin"/>
                  <a:ea typeface="Cabin"/>
                  <a:cs typeface="Cabin"/>
                  <a:sym typeface="Cabin"/>
                </a:rPr>
                <a:t>Introduction</a:t>
              </a:r>
            </a:p>
          </p:txBody>
        </p:sp>
        <p:sp>
          <p:nvSpPr>
            <p:cNvPr id="7" name="TextBox 7"/>
            <p:cNvSpPr txBox="1"/>
            <p:nvPr/>
          </p:nvSpPr>
          <p:spPr>
            <a:xfrm>
              <a:off x="0" y="1166840"/>
              <a:ext cx="6401376" cy="1061571"/>
            </a:xfrm>
            <a:prstGeom prst="rect">
              <a:avLst/>
            </a:prstGeom>
          </p:spPr>
          <p:txBody>
            <a:bodyPr lIns="0" tIns="0" rIns="0" bIns="0" rtlCol="0" anchor="t">
              <a:spAutoFit/>
            </a:bodyPr>
            <a:lstStyle/>
            <a:p>
              <a:pPr marL="822545" lvl="1" indent="-411272" algn="just">
                <a:lnSpc>
                  <a:spcPts val="7619"/>
                </a:lnSpc>
                <a:buFont typeface="Arial"/>
                <a:buChar char="•"/>
              </a:pPr>
              <a:r>
                <a:rPr lang="en-US" sz="3809">
                  <a:solidFill>
                    <a:srgbClr val="252930"/>
                  </a:solidFill>
                  <a:latin typeface="Cabin"/>
                  <a:ea typeface="Cabin"/>
                  <a:cs typeface="Cabin"/>
                  <a:sym typeface="Cabin"/>
                </a:rPr>
                <a:t>Literature Review</a:t>
              </a:r>
            </a:p>
          </p:txBody>
        </p:sp>
        <p:sp>
          <p:nvSpPr>
            <p:cNvPr id="8" name="TextBox 8"/>
            <p:cNvSpPr txBox="1"/>
            <p:nvPr/>
          </p:nvSpPr>
          <p:spPr>
            <a:xfrm>
              <a:off x="12700" y="2648005"/>
              <a:ext cx="6777656" cy="2261934"/>
            </a:xfrm>
            <a:prstGeom prst="rect">
              <a:avLst/>
            </a:prstGeom>
          </p:spPr>
          <p:txBody>
            <a:bodyPr lIns="0" tIns="0" rIns="0" bIns="0" rtlCol="0" anchor="t">
              <a:spAutoFit/>
            </a:bodyPr>
            <a:lstStyle/>
            <a:p>
              <a:pPr marL="797255" lvl="1" indent="-398627" algn="just">
                <a:lnSpc>
                  <a:spcPts val="7385"/>
                </a:lnSpc>
                <a:buFont typeface="Arial"/>
                <a:buChar char="•"/>
              </a:pPr>
              <a:r>
                <a:rPr lang="en-US" sz="3692">
                  <a:solidFill>
                    <a:srgbClr val="252930"/>
                  </a:solidFill>
                  <a:latin typeface="Cabin"/>
                  <a:ea typeface="Cabin"/>
                  <a:cs typeface="Cabin"/>
                  <a:sym typeface="Cabin"/>
                </a:rPr>
                <a:t>Problem Statement</a:t>
              </a:r>
            </a:p>
            <a:p>
              <a:pPr marL="797255" lvl="1" indent="-398627" algn="just">
                <a:lnSpc>
                  <a:spcPts val="7385"/>
                </a:lnSpc>
                <a:buFont typeface="Arial"/>
                <a:buChar char="•"/>
              </a:pPr>
              <a:r>
                <a:rPr lang="en-US" sz="3692">
                  <a:solidFill>
                    <a:srgbClr val="252930"/>
                  </a:solidFill>
                  <a:latin typeface="Cabin"/>
                  <a:ea typeface="Cabin"/>
                  <a:cs typeface="Cabin"/>
                  <a:sym typeface="Cabin"/>
                </a:rPr>
                <a:t>Objective</a:t>
              </a:r>
            </a:p>
          </p:txBody>
        </p:sp>
      </p:grpSp>
      <p:grpSp>
        <p:nvGrpSpPr>
          <p:cNvPr id="9" name="Group 9"/>
          <p:cNvGrpSpPr/>
          <p:nvPr/>
        </p:nvGrpSpPr>
        <p:grpSpPr>
          <a:xfrm>
            <a:off x="9964955" y="3634118"/>
            <a:ext cx="5369874" cy="4651169"/>
            <a:chOff x="0" y="0"/>
            <a:chExt cx="7159832" cy="6201558"/>
          </a:xfrm>
        </p:grpSpPr>
        <p:sp>
          <p:nvSpPr>
            <p:cNvPr id="10" name="TextBox 10"/>
            <p:cNvSpPr txBox="1"/>
            <p:nvPr/>
          </p:nvSpPr>
          <p:spPr>
            <a:xfrm>
              <a:off x="0" y="-276225"/>
              <a:ext cx="7159832" cy="2283862"/>
            </a:xfrm>
            <a:prstGeom prst="rect">
              <a:avLst/>
            </a:prstGeom>
          </p:spPr>
          <p:txBody>
            <a:bodyPr lIns="0" tIns="0" rIns="0" bIns="0" rtlCol="0" anchor="t">
              <a:spAutoFit/>
            </a:bodyPr>
            <a:lstStyle/>
            <a:p>
              <a:pPr marL="807972" lvl="1" indent="-403986" algn="just">
                <a:lnSpc>
                  <a:spcPts val="7484"/>
                </a:lnSpc>
                <a:buFont typeface="Arial"/>
                <a:buChar char="•"/>
              </a:pPr>
              <a:r>
                <a:rPr lang="en-US" sz="3742">
                  <a:solidFill>
                    <a:srgbClr val="252930"/>
                  </a:solidFill>
                  <a:latin typeface="Cabin"/>
                  <a:ea typeface="Cabin"/>
                  <a:cs typeface="Cabin"/>
                  <a:sym typeface="Cabin"/>
                </a:rPr>
                <a:t>Methodology</a:t>
              </a:r>
            </a:p>
            <a:p>
              <a:pPr marL="807972" lvl="1" indent="-403986" algn="just">
                <a:lnSpc>
                  <a:spcPts val="7484"/>
                </a:lnSpc>
                <a:buFont typeface="Arial"/>
                <a:buChar char="•"/>
              </a:pPr>
              <a:r>
                <a:rPr lang="en-US" sz="3742">
                  <a:solidFill>
                    <a:srgbClr val="252930"/>
                  </a:solidFill>
                  <a:latin typeface="Cabin"/>
                  <a:ea typeface="Cabin"/>
                  <a:cs typeface="Cabin"/>
                  <a:sym typeface="Cabin"/>
                </a:rPr>
                <a:t>Model Evolution </a:t>
              </a:r>
            </a:p>
          </p:txBody>
        </p:sp>
        <p:sp>
          <p:nvSpPr>
            <p:cNvPr id="11" name="TextBox 11"/>
            <p:cNvSpPr txBox="1"/>
            <p:nvPr/>
          </p:nvSpPr>
          <p:spPr>
            <a:xfrm>
              <a:off x="0" y="2468012"/>
              <a:ext cx="6792024" cy="1026562"/>
            </a:xfrm>
            <a:prstGeom prst="rect">
              <a:avLst/>
            </a:prstGeom>
          </p:spPr>
          <p:txBody>
            <a:bodyPr lIns="0" tIns="0" rIns="0" bIns="0" rtlCol="0" anchor="t">
              <a:spAutoFit/>
            </a:bodyPr>
            <a:lstStyle/>
            <a:p>
              <a:pPr marL="807972" lvl="1" indent="-403986" algn="just">
                <a:lnSpc>
                  <a:spcPts val="7484"/>
                </a:lnSpc>
                <a:buFont typeface="Arial"/>
                <a:buChar char="•"/>
              </a:pPr>
              <a:r>
                <a:rPr lang="en-US" sz="3742">
                  <a:solidFill>
                    <a:srgbClr val="252930"/>
                  </a:solidFill>
                  <a:latin typeface="Cabin"/>
                  <a:ea typeface="Cabin"/>
                  <a:cs typeface="Cabin"/>
                  <a:sym typeface="Cabin"/>
                </a:rPr>
                <a:t>Results</a:t>
              </a:r>
            </a:p>
          </p:txBody>
        </p:sp>
        <p:sp>
          <p:nvSpPr>
            <p:cNvPr id="12" name="TextBox 12"/>
            <p:cNvSpPr txBox="1"/>
            <p:nvPr/>
          </p:nvSpPr>
          <p:spPr>
            <a:xfrm>
              <a:off x="0" y="3964475"/>
              <a:ext cx="6792024" cy="2237084"/>
            </a:xfrm>
            <a:prstGeom prst="rect">
              <a:avLst/>
            </a:prstGeom>
          </p:spPr>
          <p:txBody>
            <a:bodyPr lIns="0" tIns="0" rIns="0" bIns="0" rtlCol="0" anchor="t">
              <a:spAutoFit/>
            </a:bodyPr>
            <a:lstStyle/>
            <a:p>
              <a:pPr marL="786382" lvl="1" indent="-393191" algn="just">
                <a:lnSpc>
                  <a:spcPts val="7284"/>
                </a:lnSpc>
                <a:buFont typeface="Arial"/>
                <a:buChar char="•"/>
              </a:pPr>
              <a:r>
                <a:rPr lang="en-US" sz="3642">
                  <a:solidFill>
                    <a:srgbClr val="252930"/>
                  </a:solidFill>
                  <a:latin typeface="Cabin"/>
                  <a:ea typeface="Cabin"/>
                  <a:cs typeface="Cabin"/>
                  <a:sym typeface="Cabin"/>
                </a:rPr>
                <a:t>Outcome</a:t>
              </a:r>
            </a:p>
            <a:p>
              <a:pPr marL="786382" lvl="1" indent="-393191" algn="just">
                <a:lnSpc>
                  <a:spcPts val="7284"/>
                </a:lnSpc>
                <a:buFont typeface="Arial"/>
                <a:buChar char="•"/>
              </a:pPr>
              <a:r>
                <a:rPr lang="en-US" sz="3642">
                  <a:solidFill>
                    <a:srgbClr val="252930"/>
                  </a:solidFill>
                  <a:latin typeface="Cabin"/>
                  <a:ea typeface="Cabin"/>
                  <a:cs typeface="Cabin"/>
                  <a:sym typeface="Cabin"/>
                </a:rPr>
                <a:t>References</a:t>
              </a:r>
            </a:p>
          </p:txBody>
        </p:sp>
      </p:grpSp>
      <p:sp>
        <p:nvSpPr>
          <p:cNvPr id="13" name="TextBox 13"/>
          <p:cNvSpPr txBox="1"/>
          <p:nvPr/>
        </p:nvSpPr>
        <p:spPr>
          <a:xfrm>
            <a:off x="4995148" y="1869816"/>
            <a:ext cx="8297704" cy="835967"/>
          </a:xfrm>
          <a:prstGeom prst="rect">
            <a:avLst/>
          </a:prstGeom>
        </p:spPr>
        <p:txBody>
          <a:bodyPr lIns="0" tIns="0" rIns="0" bIns="0" rtlCol="0" anchor="t">
            <a:spAutoFit/>
          </a:bodyPr>
          <a:lstStyle/>
          <a:p>
            <a:pPr algn="ctr">
              <a:lnSpc>
                <a:spcPts val="5841"/>
              </a:lnSpc>
            </a:pPr>
            <a:r>
              <a:rPr lang="en-US" sz="7301" b="1">
                <a:solidFill>
                  <a:srgbClr val="252D37"/>
                </a:solidFill>
                <a:latin typeface="Cabin Bold"/>
                <a:ea typeface="Cabin Bold"/>
                <a:cs typeface="Cabin Bold"/>
                <a:sym typeface="Cabin Bold"/>
              </a:rPr>
              <a:t>OVERVIEW</a:t>
            </a:r>
          </a:p>
        </p:txBody>
      </p:sp>
      <p:sp>
        <p:nvSpPr>
          <p:cNvPr id="14" name="Freeform 1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5" name="Freeform 1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390902" y="3639980"/>
            <a:ext cx="15506195" cy="5970834"/>
          </a:xfrm>
          <a:prstGeom prst="rect">
            <a:avLst/>
          </a:prstGeom>
        </p:spPr>
        <p:txBody>
          <a:bodyPr lIns="0" tIns="0" rIns="0" bIns="0" rtlCol="0" anchor="t">
            <a:spAutoFit/>
          </a:bodyPr>
          <a:lstStyle/>
          <a:p>
            <a:pPr algn="just">
              <a:lnSpc>
                <a:spcPts val="4798"/>
              </a:lnSpc>
            </a:pPr>
            <a:r>
              <a:rPr lang="en-US" sz="3427">
                <a:solidFill>
                  <a:srgbClr val="252D37"/>
                </a:solidFill>
                <a:latin typeface="Cabin"/>
                <a:ea typeface="Cabin"/>
                <a:cs typeface="Cabin"/>
                <a:sym typeface="Cabin"/>
              </a:rPr>
              <a:t>There are social networking sites like Twitter that have an enormous amount of text-based data being produced every day through which people share their feelings, viewpoints, and personal stories. Feelings may include happiness, joy, sadness, anger, and fear, among others. Emotion detection is basically meant to help computers comprehend human emotions through text data.</a:t>
            </a:r>
          </a:p>
          <a:p>
            <a:pPr algn="just">
              <a:lnSpc>
                <a:spcPts val="4798"/>
              </a:lnSpc>
            </a:pPr>
            <a:endParaRPr lang="en-US" sz="3427">
              <a:solidFill>
                <a:srgbClr val="252D37"/>
              </a:solidFill>
              <a:latin typeface="Cabin"/>
              <a:ea typeface="Cabin"/>
              <a:cs typeface="Cabin"/>
              <a:sym typeface="Cabin"/>
            </a:endParaRPr>
          </a:p>
          <a:p>
            <a:pPr algn="just">
              <a:lnSpc>
                <a:spcPts val="4798"/>
              </a:lnSpc>
            </a:pPr>
            <a:r>
              <a:rPr lang="en-US" sz="3427">
                <a:solidFill>
                  <a:srgbClr val="252D37"/>
                </a:solidFill>
                <a:latin typeface="Cabin"/>
                <a:ea typeface="Cabin"/>
                <a:cs typeface="Cabin"/>
                <a:sym typeface="Cabin"/>
              </a:rPr>
              <a:t>This feature can be extremely useful in many practical applications such as mental state tracking, consumer mood evaluation, and improving the performance of chatbots and recommendation engines. The system's ability to correctly detect emotions will help it generate appropriate responses.</a:t>
            </a:r>
          </a:p>
        </p:txBody>
      </p:sp>
      <p:sp>
        <p:nvSpPr>
          <p:cNvPr id="3" name="TextBox 3"/>
          <p:cNvSpPr txBox="1"/>
          <p:nvPr/>
        </p:nvSpPr>
        <p:spPr>
          <a:xfrm>
            <a:off x="4596087" y="1912981"/>
            <a:ext cx="9095826" cy="920751"/>
          </a:xfrm>
          <a:prstGeom prst="rect">
            <a:avLst/>
          </a:prstGeom>
        </p:spPr>
        <p:txBody>
          <a:bodyPr lIns="0" tIns="0" rIns="0" bIns="0" rtlCol="0" anchor="t">
            <a:spAutoFit/>
          </a:bodyPr>
          <a:lstStyle/>
          <a:p>
            <a:pPr algn="ctr">
              <a:lnSpc>
                <a:spcPts val="6400"/>
              </a:lnSpc>
            </a:pPr>
            <a:r>
              <a:rPr lang="en-US" sz="8000" b="1">
                <a:solidFill>
                  <a:srgbClr val="252D37"/>
                </a:solidFill>
                <a:latin typeface="Cabin Bold"/>
                <a:ea typeface="Cabin Bold"/>
                <a:cs typeface="Cabin Bold"/>
                <a:sym typeface="Cabin Bold"/>
              </a:rPr>
              <a:t>INTRODUCTION</a:t>
            </a:r>
          </a:p>
        </p:txBody>
      </p:sp>
      <p:sp>
        <p:nvSpPr>
          <p:cNvPr id="4" name="Freeform 4"/>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495361" y="4219402"/>
            <a:ext cx="13297277" cy="4665980"/>
          </a:xfrm>
          <a:prstGeom prst="rect">
            <a:avLst/>
          </a:prstGeom>
        </p:spPr>
        <p:txBody>
          <a:bodyPr lIns="0" tIns="0" rIns="0" bIns="0" rtlCol="0" anchor="t">
            <a:spAutoFit/>
          </a:bodyPr>
          <a:lstStyle/>
          <a:p>
            <a:pPr marL="820417" lvl="1" indent="-410209" algn="just">
              <a:lnSpc>
                <a:spcPts val="5319"/>
              </a:lnSpc>
              <a:buFont typeface="Arial"/>
              <a:buChar char="•"/>
            </a:pPr>
            <a:r>
              <a:rPr lang="en-US" sz="3799">
                <a:solidFill>
                  <a:srgbClr val="252930"/>
                </a:solidFill>
                <a:latin typeface="Maven Pro"/>
                <a:ea typeface="Maven Pro"/>
                <a:cs typeface="Maven Pro"/>
                <a:sym typeface="Maven Pro"/>
              </a:rPr>
              <a:t>Traditional models analyze only a single sentence</a:t>
            </a:r>
          </a:p>
          <a:p>
            <a:pPr marL="820417" lvl="1" indent="-410209" algn="just">
              <a:lnSpc>
                <a:spcPts val="5319"/>
              </a:lnSpc>
              <a:buFont typeface="Arial"/>
              <a:buChar char="•"/>
            </a:pPr>
            <a:r>
              <a:rPr lang="en-US" sz="3799">
                <a:solidFill>
                  <a:srgbClr val="252930"/>
                </a:solidFill>
                <a:latin typeface="Maven Pro"/>
                <a:ea typeface="Maven Pro"/>
                <a:cs typeface="Maven Pro"/>
                <a:sym typeface="Maven Pro"/>
              </a:rPr>
              <a:t>They ignore previous conversation or context</a:t>
            </a:r>
          </a:p>
          <a:p>
            <a:pPr marL="820417" lvl="1" indent="-410209" algn="just">
              <a:lnSpc>
                <a:spcPts val="5319"/>
              </a:lnSpc>
              <a:buFont typeface="Arial"/>
              <a:buChar char="•"/>
            </a:pPr>
            <a:r>
              <a:rPr lang="en-US" sz="3799">
                <a:solidFill>
                  <a:srgbClr val="252930"/>
                </a:solidFill>
                <a:latin typeface="Maven Pro"/>
                <a:ea typeface="Maven Pro"/>
                <a:cs typeface="Maven Pro"/>
                <a:sym typeface="Maven Pro"/>
              </a:rPr>
              <a:t>Emotions are often dependent on past messages</a:t>
            </a:r>
          </a:p>
          <a:p>
            <a:pPr marL="820417" lvl="1" indent="-410209" algn="just">
              <a:lnSpc>
                <a:spcPts val="5319"/>
              </a:lnSpc>
              <a:buFont typeface="Arial"/>
              <a:buChar char="•"/>
            </a:pPr>
            <a:r>
              <a:rPr lang="en-US" sz="3799">
                <a:solidFill>
                  <a:srgbClr val="252930"/>
                </a:solidFill>
                <a:latin typeface="Maven Pro"/>
                <a:ea typeface="Maven Pro"/>
                <a:cs typeface="Maven Pro"/>
                <a:sym typeface="Maven Pro"/>
              </a:rPr>
              <a:t>Example:</a:t>
            </a:r>
          </a:p>
          <a:p>
            <a:pPr algn="l">
              <a:lnSpc>
                <a:spcPts val="5319"/>
              </a:lnSpc>
            </a:pPr>
            <a:r>
              <a:rPr lang="en-US" sz="3799">
                <a:solidFill>
                  <a:srgbClr val="252930"/>
                </a:solidFill>
                <a:latin typeface="Maven Pro"/>
                <a:ea typeface="Maven Pro"/>
                <a:cs typeface="Maven Pro"/>
                <a:sym typeface="Maven Pro"/>
              </a:rPr>
              <a:t>         “I’m fine” can mean different things based on context</a:t>
            </a:r>
          </a:p>
          <a:p>
            <a:pPr marL="820417" lvl="1" indent="-410209" algn="just">
              <a:lnSpc>
                <a:spcPts val="5319"/>
              </a:lnSpc>
              <a:buFont typeface="Arial"/>
              <a:buChar char="•"/>
            </a:pPr>
            <a:r>
              <a:rPr lang="en-US" sz="3799">
                <a:solidFill>
                  <a:srgbClr val="252930"/>
                </a:solidFill>
                <a:latin typeface="Maven Pro"/>
                <a:ea typeface="Maven Pro"/>
                <a:cs typeface="Maven Pro"/>
                <a:sym typeface="Maven Pro"/>
              </a:rPr>
              <a:t>Therefore, a context-aware system is required</a:t>
            </a:r>
          </a:p>
          <a:p>
            <a:pPr algn="just">
              <a:lnSpc>
                <a:spcPts val="5319"/>
              </a:lnSpc>
            </a:pPr>
            <a:endParaRPr lang="en-US" sz="3799">
              <a:solidFill>
                <a:srgbClr val="252930"/>
              </a:solidFill>
              <a:latin typeface="Maven Pro"/>
              <a:ea typeface="Maven Pro"/>
              <a:cs typeface="Maven Pro"/>
              <a:sym typeface="Maven Pro"/>
            </a:endParaRPr>
          </a:p>
        </p:txBody>
      </p:sp>
      <p:sp>
        <p:nvSpPr>
          <p:cNvPr id="3" name="TextBox 3"/>
          <p:cNvSpPr txBox="1"/>
          <p:nvPr/>
        </p:nvSpPr>
        <p:spPr>
          <a:xfrm>
            <a:off x="2999625" y="2095429"/>
            <a:ext cx="12288749" cy="1047750"/>
          </a:xfrm>
          <a:prstGeom prst="rect">
            <a:avLst/>
          </a:prstGeom>
        </p:spPr>
        <p:txBody>
          <a:bodyPr lIns="0" tIns="0" rIns="0" bIns="0" rtlCol="0" anchor="t">
            <a:spAutoFit/>
          </a:bodyPr>
          <a:lstStyle/>
          <a:p>
            <a:pPr algn="ctr">
              <a:lnSpc>
                <a:spcPts val="7200"/>
              </a:lnSpc>
            </a:pPr>
            <a:r>
              <a:rPr lang="en-US" sz="9000" b="1">
                <a:solidFill>
                  <a:srgbClr val="252930"/>
                </a:solidFill>
                <a:latin typeface="Maven Pro Bold"/>
                <a:ea typeface="Maven Pro Bold"/>
                <a:cs typeface="Maven Pro Bold"/>
                <a:sym typeface="Maven Pro Bold"/>
              </a:rPr>
              <a:t> NEED OF PROJECT</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999625" y="717540"/>
            <a:ext cx="12288749" cy="695346"/>
          </a:xfrm>
          <a:prstGeom prst="rect">
            <a:avLst/>
          </a:prstGeom>
        </p:spPr>
        <p:txBody>
          <a:bodyPr lIns="0" tIns="0" rIns="0" bIns="0" rtlCol="0" anchor="t">
            <a:spAutoFit/>
          </a:bodyPr>
          <a:lstStyle/>
          <a:p>
            <a:pPr algn="ctr">
              <a:lnSpc>
                <a:spcPts val="4800"/>
              </a:lnSpc>
            </a:pPr>
            <a:r>
              <a:rPr lang="en-US" sz="6000" b="1">
                <a:solidFill>
                  <a:srgbClr val="252930"/>
                </a:solidFill>
                <a:latin typeface="Cabin Bold"/>
                <a:ea typeface="Cabin Bold"/>
                <a:cs typeface="Cabin Bold"/>
                <a:sym typeface="Cabin Bold"/>
              </a:rPr>
              <a:t>LITERATURE REVIEW</a:t>
            </a:r>
          </a:p>
        </p:txBody>
      </p:sp>
      <p:sp>
        <p:nvSpPr>
          <p:cNvPr id="3" name="Freeform 3"/>
          <p:cNvSpPr/>
          <p:nvPr/>
        </p:nvSpPr>
        <p:spPr>
          <a:xfrm flipH="1">
            <a:off x="-1115175" y="-49846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aphicFrame>
        <p:nvGraphicFramePr>
          <p:cNvPr id="5" name="Table 5"/>
          <p:cNvGraphicFramePr>
            <a:graphicFrameLocks noGrp="1"/>
          </p:cNvGraphicFramePr>
          <p:nvPr>
            <p:extLst>
              <p:ext uri="{D42A27DB-BD31-4B8C-83A1-F6EECF244321}">
                <p14:modId xmlns:p14="http://schemas.microsoft.com/office/powerpoint/2010/main" val="1457463840"/>
              </p:ext>
            </p:extLst>
          </p:nvPr>
        </p:nvGraphicFramePr>
        <p:xfrm>
          <a:off x="967162" y="2044735"/>
          <a:ext cx="16353675" cy="7461508"/>
        </p:xfrm>
        <a:graphic>
          <a:graphicData uri="http://schemas.openxmlformats.org/drawingml/2006/table">
            <a:tbl>
              <a:tblPr/>
              <a:tblGrid>
                <a:gridCol w="3137091">
                  <a:extLst>
                    <a:ext uri="{9D8B030D-6E8A-4147-A177-3AD203B41FA5}">
                      <a16:colId xmlns:a16="http://schemas.microsoft.com/office/drawing/2014/main" val="20000"/>
                    </a:ext>
                  </a:extLst>
                </a:gridCol>
                <a:gridCol w="2090277">
                  <a:extLst>
                    <a:ext uri="{9D8B030D-6E8A-4147-A177-3AD203B41FA5}">
                      <a16:colId xmlns:a16="http://schemas.microsoft.com/office/drawing/2014/main" val="20001"/>
                    </a:ext>
                  </a:extLst>
                </a:gridCol>
                <a:gridCol w="2613684">
                  <a:extLst>
                    <a:ext uri="{9D8B030D-6E8A-4147-A177-3AD203B41FA5}">
                      <a16:colId xmlns:a16="http://schemas.microsoft.com/office/drawing/2014/main" val="20002"/>
                    </a:ext>
                  </a:extLst>
                </a:gridCol>
                <a:gridCol w="8512623">
                  <a:extLst>
                    <a:ext uri="{9D8B030D-6E8A-4147-A177-3AD203B41FA5}">
                      <a16:colId xmlns:a16="http://schemas.microsoft.com/office/drawing/2014/main" val="20003"/>
                    </a:ext>
                  </a:extLst>
                </a:gridCol>
              </a:tblGrid>
              <a:tr h="0">
                <a:tc>
                  <a:txBody>
                    <a:bodyPr/>
                    <a:lstStyle/>
                    <a:p>
                      <a:pPr algn="ctr">
                        <a:lnSpc>
                          <a:spcPts val="3219"/>
                        </a:lnSpc>
                        <a:defRPr/>
                      </a:pPr>
                      <a:r>
                        <a:rPr lang="en-US" sz="2299" b="1">
                          <a:solidFill>
                            <a:srgbClr val="000000"/>
                          </a:solidFill>
                          <a:latin typeface="Cabin Bold"/>
                          <a:ea typeface="Cabin Bold"/>
                          <a:cs typeface="Cabin Bold"/>
                          <a:sym typeface="Cabin Bold"/>
                        </a:rPr>
                        <a:t>Author (Year)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Cabin Bold"/>
                          <a:ea typeface="Cabin Bold"/>
                          <a:cs typeface="Cabin Bold"/>
                          <a:sym typeface="Cabin Bold"/>
                        </a:rPr>
                        <a:t>Model Used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Cabin Bold"/>
                          <a:ea typeface="Cabin Bold"/>
                          <a:cs typeface="Cabin Bold"/>
                          <a:sym typeface="Cabin Bold"/>
                        </a:rPr>
                        <a:t>Approach Type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219"/>
                        </a:lnSpc>
                        <a:defRPr/>
                      </a:pPr>
                      <a:r>
                        <a:rPr lang="en-US" sz="2299" b="1" dirty="0">
                          <a:solidFill>
                            <a:srgbClr val="000000"/>
                          </a:solidFill>
                          <a:latin typeface="Canva Sans Bold"/>
                          <a:ea typeface="Canva Sans Bold"/>
                          <a:cs typeface="Canva Sans Bold"/>
                          <a:sym typeface="Canva Sans Bold"/>
                        </a:rPr>
                        <a:t>Work Description</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51561">
                <a:tc>
                  <a:txBody>
                    <a:bodyPr/>
                    <a:lstStyle/>
                    <a:p>
                      <a:pPr algn="ctr">
                        <a:lnSpc>
                          <a:spcPts val="2520"/>
                        </a:lnSpc>
                        <a:defRPr/>
                      </a:pPr>
                      <a:r>
                        <a:rPr lang="en-US" sz="1800">
                          <a:solidFill>
                            <a:srgbClr val="000000"/>
                          </a:solidFill>
                          <a:latin typeface="Cabin"/>
                          <a:ea typeface="Cabin"/>
                          <a:cs typeface="Cabin"/>
                          <a:sym typeface="Cabin"/>
                        </a:rPr>
                        <a:t>Go et al. (2009)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bin"/>
                          <a:ea typeface="Cabin"/>
                          <a:cs typeface="Cabin"/>
                          <a:sym typeface="Cabin"/>
                        </a:rPr>
                        <a:t>Naive Bayes, SVM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bin"/>
                          <a:ea typeface="Cabin"/>
                          <a:cs typeface="Cabin"/>
                          <a:sym typeface="Cabin"/>
                        </a:rPr>
                        <a:t>Single Text Classification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Performed sentiment analysis using traditional machine learning techniques on text data</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lnSpc>
                          <a:spcPts val="2520"/>
                        </a:lnSpc>
                        <a:defRPr/>
                      </a:pPr>
                      <a:r>
                        <a:rPr lang="en-US" sz="1800" dirty="0">
                          <a:solidFill>
                            <a:srgbClr val="000000"/>
                          </a:solidFill>
                          <a:latin typeface="Cabin"/>
                          <a:ea typeface="Cabin"/>
                          <a:cs typeface="Cabin"/>
                          <a:sym typeface="Cabin"/>
                        </a:rPr>
                        <a:t>Kim (2014)</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bin"/>
                          <a:ea typeface="Cabin"/>
                          <a:cs typeface="Cabin"/>
                          <a:sym typeface="Cabin"/>
                        </a:rPr>
                        <a:t>CNN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Emotion Same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Applied convolutional neural networks for sentence classification and feature extraction</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1561">
                <a:tc>
                  <a:txBody>
                    <a:bodyPr/>
                    <a:lstStyle/>
                    <a:p>
                      <a:pPr algn="ctr">
                        <a:lnSpc>
                          <a:spcPts val="2520"/>
                        </a:lnSpc>
                        <a:defRPr/>
                      </a:pPr>
                      <a:r>
                        <a:rPr lang="en-US" sz="1800" dirty="0">
                          <a:solidFill>
                            <a:srgbClr val="000000"/>
                          </a:solidFill>
                          <a:latin typeface="Cabin"/>
                          <a:ea typeface="Cabin"/>
                          <a:cs typeface="Cabin"/>
                          <a:sym typeface="Cabin"/>
                        </a:rPr>
                        <a:t>Hochreiter &amp; </a:t>
                      </a:r>
                      <a:r>
                        <a:rPr lang="en-US" sz="1800" dirty="0" err="1">
                          <a:solidFill>
                            <a:srgbClr val="000000"/>
                          </a:solidFill>
                          <a:latin typeface="Cabin"/>
                          <a:ea typeface="Cabin"/>
                          <a:cs typeface="Cabin"/>
                          <a:sym typeface="Cabin"/>
                        </a:rPr>
                        <a:t>Schmidhuber</a:t>
                      </a:r>
                      <a:r>
                        <a:rPr lang="en-US" sz="1800" dirty="0">
                          <a:solidFill>
                            <a:srgbClr val="000000"/>
                          </a:solidFill>
                          <a:latin typeface="Cabin"/>
                          <a:ea typeface="Cabin"/>
                          <a:cs typeface="Cabin"/>
                          <a:sym typeface="Cabin"/>
                        </a:rPr>
                        <a:t> (1997)</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LSTM</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Emotion Same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19"/>
                        </a:lnSpc>
                        <a:defRPr/>
                      </a:pPr>
                      <a:r>
                        <a:rPr lang="en-US" sz="1799" dirty="0">
                          <a:solidFill>
                            <a:srgbClr val="000000"/>
                          </a:solidFill>
                          <a:latin typeface="Arimo"/>
                          <a:ea typeface="Arimo"/>
                          <a:cs typeface="Arimo"/>
                          <a:sym typeface="Arimo"/>
                        </a:rPr>
                        <a:t>Introduced LSTM for capturing sequential dependencies in text</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lnSpc>
                          <a:spcPts val="2519"/>
                        </a:lnSpc>
                        <a:defRPr/>
                      </a:pPr>
                      <a:r>
                        <a:rPr lang="en-US" sz="1799">
                          <a:solidFill>
                            <a:srgbClr val="000000"/>
                          </a:solidFill>
                          <a:latin typeface="Cabin"/>
                          <a:ea typeface="Cabin"/>
                          <a:cs typeface="Cabin"/>
                          <a:sym typeface="Cabin"/>
                        </a:rPr>
                        <a:t>Poria et al. (2017)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bin"/>
                          <a:ea typeface="Cabin"/>
                          <a:cs typeface="Cabin"/>
                          <a:sym typeface="Cabin"/>
                        </a:rPr>
                        <a:t>LSTM + Attention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Emotion Shift</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Proposed context-aware emotion detection using previous utterances</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algn="ctr">
                        <a:lnSpc>
                          <a:spcPts val="2520"/>
                        </a:lnSpc>
                        <a:defRPr/>
                      </a:pPr>
                      <a:r>
                        <a:rPr lang="en-US" sz="1800" dirty="0">
                          <a:solidFill>
                            <a:srgbClr val="000000"/>
                          </a:solidFill>
                          <a:latin typeface="Cabin"/>
                          <a:ea typeface="Cabin"/>
                          <a:cs typeface="Cabin"/>
                          <a:sym typeface="Cabin"/>
                        </a:rPr>
                        <a:t>Majumder et al. (2019)</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bin"/>
                          <a:ea typeface="Cabin"/>
                          <a:cs typeface="Cabin"/>
                          <a:sym typeface="Cabin"/>
                        </a:rPr>
                        <a:t>DialogueRNN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Window-3 Context</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Modeled conversational context for emotion recognition in dialogues</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gn="ctr">
                        <a:lnSpc>
                          <a:spcPts val="2520"/>
                        </a:lnSpc>
                        <a:defRPr/>
                      </a:pPr>
                      <a:r>
                        <a:rPr lang="en-US" sz="1800" dirty="0">
                          <a:solidFill>
                            <a:srgbClr val="000000"/>
                          </a:solidFill>
                          <a:latin typeface="Cabin"/>
                          <a:ea typeface="Cabin"/>
                          <a:cs typeface="Cabin"/>
                          <a:sym typeface="Cabin"/>
                        </a:rPr>
                        <a:t>Devlin et al. (2018)</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bin"/>
                          <a:ea typeface="Cabin"/>
                          <a:cs typeface="Cabin"/>
                          <a:sym typeface="Cabin"/>
                        </a:rPr>
                        <a:t>BERT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Context-Based</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Introduced transformer-based bidirectional model for deep contextual understanding</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algn="ctr">
                        <a:lnSpc>
                          <a:spcPts val="2520"/>
                        </a:lnSpc>
                        <a:defRPr/>
                      </a:pPr>
                      <a:r>
                        <a:rPr lang="en-US" sz="1800" dirty="0">
                          <a:solidFill>
                            <a:srgbClr val="000000"/>
                          </a:solidFill>
                          <a:latin typeface="Cabin"/>
                          <a:ea typeface="Cabin"/>
                          <a:cs typeface="Cabin"/>
                          <a:sym typeface="Cabin"/>
                        </a:rPr>
                        <a:t>Liu et al. (2019)</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err="1">
                          <a:solidFill>
                            <a:srgbClr val="000000"/>
                          </a:solidFill>
                          <a:latin typeface="Cabin"/>
                          <a:ea typeface="Cabin"/>
                          <a:cs typeface="Cabin"/>
                          <a:sym typeface="Cabin"/>
                        </a:rPr>
                        <a:t>RoBERTa</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Window-3 Context</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Improved BERT with optimized training for better performance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a:lnSpc>
                          <a:spcPts val="2520"/>
                        </a:lnSpc>
                        <a:defRPr/>
                      </a:pPr>
                      <a:r>
                        <a:rPr lang="en-US" sz="1800" dirty="0">
                          <a:solidFill>
                            <a:srgbClr val="000000"/>
                          </a:solidFill>
                          <a:latin typeface="Cabin"/>
                          <a:ea typeface="Cabin"/>
                          <a:cs typeface="Cabin"/>
                          <a:sym typeface="Cabin"/>
                        </a:rPr>
                        <a:t>Vaswani et al. (2017)</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bin"/>
                          <a:ea typeface="Cabin"/>
                          <a:cs typeface="Cabin"/>
                          <a:sym typeface="Cabin"/>
                        </a:rPr>
                        <a:t>Transformer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Context-Based</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Cabin"/>
                          <a:ea typeface="Cabin"/>
                          <a:cs typeface="Cabin"/>
                          <a:sym typeface="Cabin"/>
                        </a:rPr>
                        <a:t>Proposed attention-based architecture for handling long-range dependencies</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495361" y="4048760"/>
            <a:ext cx="13297277" cy="1780540"/>
          </a:xfrm>
          <a:prstGeom prst="rect">
            <a:avLst/>
          </a:prstGeom>
        </p:spPr>
        <p:txBody>
          <a:bodyPr lIns="0" tIns="0" rIns="0" bIns="0" rtlCol="0" anchor="t">
            <a:spAutoFit/>
          </a:bodyPr>
          <a:lstStyle/>
          <a:p>
            <a:pPr algn="just">
              <a:lnSpc>
                <a:spcPts val="4759"/>
              </a:lnSpc>
            </a:pPr>
            <a:r>
              <a:rPr lang="en-US" sz="3399">
                <a:solidFill>
                  <a:srgbClr val="252930"/>
                </a:solidFill>
                <a:latin typeface="Cabin"/>
                <a:ea typeface="Cabin"/>
                <a:cs typeface="Cabin"/>
                <a:sym typeface="Cabin"/>
              </a:rPr>
              <a:t>To develop an emotion detection system that accurately predicts emotions from text using contextual and conversational understanding instead of isolated sentences.</a:t>
            </a:r>
          </a:p>
        </p:txBody>
      </p:sp>
      <p:sp>
        <p:nvSpPr>
          <p:cNvPr id="3" name="TextBox 3"/>
          <p:cNvSpPr txBox="1"/>
          <p:nvPr/>
        </p:nvSpPr>
        <p:spPr>
          <a:xfrm>
            <a:off x="2999625" y="2104954"/>
            <a:ext cx="12288749" cy="1014096"/>
          </a:xfrm>
          <a:prstGeom prst="rect">
            <a:avLst/>
          </a:prstGeom>
        </p:spPr>
        <p:txBody>
          <a:bodyPr lIns="0" tIns="0" rIns="0" bIns="0" rtlCol="0" anchor="t">
            <a:spAutoFit/>
          </a:bodyPr>
          <a:lstStyle/>
          <a:p>
            <a:pPr algn="ctr">
              <a:lnSpc>
                <a:spcPts val="7120"/>
              </a:lnSpc>
            </a:pPr>
            <a:r>
              <a:rPr lang="en-US" sz="8900" b="1">
                <a:solidFill>
                  <a:srgbClr val="252930"/>
                </a:solidFill>
                <a:latin typeface="Cabin Bold"/>
                <a:ea typeface="Cabin Bold"/>
                <a:cs typeface="Cabin Bold"/>
                <a:sym typeface="Cabin Bold"/>
              </a:rPr>
              <a:t>PROBLEM STATEMENT</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764398" y="3612515"/>
            <a:ext cx="14759204" cy="4745355"/>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252930"/>
                </a:solidFill>
                <a:latin typeface="Cabin"/>
                <a:ea typeface="Cabin"/>
                <a:cs typeface="Cabin"/>
                <a:sym typeface="Cabin"/>
              </a:rPr>
              <a:t>To build an emotion classification system</a:t>
            </a:r>
          </a:p>
          <a:p>
            <a:pPr marL="734059" lvl="1" indent="-367030" algn="just">
              <a:lnSpc>
                <a:spcPts val="4759"/>
              </a:lnSpc>
              <a:buFont typeface="Arial"/>
              <a:buChar char="•"/>
            </a:pPr>
            <a:r>
              <a:rPr lang="en-US" sz="3399">
                <a:solidFill>
                  <a:srgbClr val="252930"/>
                </a:solidFill>
                <a:latin typeface="Cabin"/>
                <a:ea typeface="Cabin"/>
                <a:cs typeface="Cabin"/>
                <a:sym typeface="Cabin"/>
              </a:rPr>
              <a:t>To compare multiple models (TF-IDF, BERT, RoBERTa)</a:t>
            </a:r>
          </a:p>
          <a:p>
            <a:pPr marL="734059" lvl="1" indent="-367030" algn="just">
              <a:lnSpc>
                <a:spcPts val="4759"/>
              </a:lnSpc>
              <a:buFont typeface="Arial"/>
              <a:buChar char="•"/>
            </a:pPr>
            <a:r>
              <a:rPr lang="en-US" sz="3399">
                <a:solidFill>
                  <a:srgbClr val="252930"/>
                </a:solidFill>
                <a:latin typeface="Cabin"/>
                <a:ea typeface="Cabin"/>
                <a:cs typeface="Cabin"/>
                <a:sym typeface="Cabin"/>
              </a:rPr>
              <a:t>To improve accuracy using contextual information</a:t>
            </a:r>
          </a:p>
          <a:p>
            <a:pPr marL="734059" lvl="1" indent="-367030" algn="just">
              <a:lnSpc>
                <a:spcPts val="4759"/>
              </a:lnSpc>
              <a:buFont typeface="Arial"/>
              <a:buChar char="•"/>
            </a:pPr>
            <a:r>
              <a:rPr lang="en-US" sz="3399">
                <a:solidFill>
                  <a:srgbClr val="252930"/>
                </a:solidFill>
                <a:latin typeface="Cabin"/>
                <a:ea typeface="Cabin"/>
                <a:cs typeface="Cabin"/>
                <a:sym typeface="Cabin"/>
              </a:rPr>
              <a:t>To preprocess and clean textual data</a:t>
            </a:r>
          </a:p>
          <a:p>
            <a:pPr marL="734059" lvl="1" indent="-367030" algn="just">
              <a:lnSpc>
                <a:spcPts val="4759"/>
              </a:lnSpc>
              <a:buFont typeface="Arial"/>
              <a:buChar char="•"/>
            </a:pPr>
            <a:r>
              <a:rPr lang="en-US" sz="3399">
                <a:solidFill>
                  <a:srgbClr val="252930"/>
                </a:solidFill>
                <a:latin typeface="Cabin"/>
                <a:ea typeface="Cabin"/>
                <a:cs typeface="Cabin"/>
                <a:sym typeface="Cabin"/>
              </a:rPr>
              <a:t>To analyze model performance using evaluation metrics</a:t>
            </a:r>
          </a:p>
          <a:p>
            <a:pPr marL="734059" lvl="1" indent="-367030" algn="just">
              <a:lnSpc>
                <a:spcPts val="4759"/>
              </a:lnSpc>
              <a:buFont typeface="Arial"/>
              <a:buChar char="•"/>
            </a:pPr>
            <a:r>
              <a:rPr lang="en-US" sz="3399">
                <a:solidFill>
                  <a:srgbClr val="252930"/>
                </a:solidFill>
                <a:latin typeface="Cabin"/>
                <a:ea typeface="Cabin"/>
                <a:cs typeface="Cabin"/>
                <a:sym typeface="Cabin"/>
              </a:rPr>
              <a:t>To implement context and conversation-based prediction</a:t>
            </a:r>
          </a:p>
          <a:p>
            <a:pPr marL="734059" lvl="1" indent="-367030" algn="just">
              <a:lnSpc>
                <a:spcPts val="4759"/>
              </a:lnSpc>
              <a:buFont typeface="Arial"/>
              <a:buChar char="•"/>
            </a:pPr>
            <a:r>
              <a:rPr lang="en-US" sz="3399">
                <a:solidFill>
                  <a:srgbClr val="252930"/>
                </a:solidFill>
                <a:latin typeface="Cabin"/>
                <a:ea typeface="Cabin"/>
                <a:cs typeface="Cabin"/>
                <a:sym typeface="Cabin"/>
              </a:rPr>
              <a:t>To develop an interactive and user-friendly web interface</a:t>
            </a:r>
          </a:p>
          <a:p>
            <a:pPr algn="just">
              <a:lnSpc>
                <a:spcPts val="4480"/>
              </a:lnSpc>
            </a:pPr>
            <a:endParaRPr lang="en-US" sz="3399">
              <a:solidFill>
                <a:srgbClr val="252930"/>
              </a:solidFill>
              <a:latin typeface="Cabin"/>
              <a:ea typeface="Cabin"/>
              <a:cs typeface="Cabin"/>
              <a:sym typeface="Cabin"/>
            </a:endParaRPr>
          </a:p>
        </p:txBody>
      </p:sp>
      <p:sp>
        <p:nvSpPr>
          <p:cNvPr id="3" name="TextBox 3"/>
          <p:cNvSpPr txBox="1"/>
          <p:nvPr/>
        </p:nvSpPr>
        <p:spPr>
          <a:xfrm>
            <a:off x="2999625" y="2104954"/>
            <a:ext cx="12288749" cy="1038225"/>
          </a:xfrm>
          <a:prstGeom prst="rect">
            <a:avLst/>
          </a:prstGeom>
        </p:spPr>
        <p:txBody>
          <a:bodyPr lIns="0" tIns="0" rIns="0" bIns="0" rtlCol="0" anchor="t">
            <a:spAutoFit/>
          </a:bodyPr>
          <a:lstStyle/>
          <a:p>
            <a:pPr algn="ctr">
              <a:lnSpc>
                <a:spcPts val="7200"/>
              </a:lnSpc>
            </a:pPr>
            <a:r>
              <a:rPr lang="en-US" sz="9000" b="1">
                <a:solidFill>
                  <a:srgbClr val="252930"/>
                </a:solidFill>
                <a:latin typeface="Cabin Bold"/>
                <a:ea typeface="Cabin Bold"/>
                <a:cs typeface="Cabin Bold"/>
                <a:sym typeface="Cabin Bold"/>
              </a:rPr>
              <a:t>OBJECTIVES</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pSp>
        <p:nvGrpSpPr>
          <p:cNvPr id="2" name="Group 2"/>
          <p:cNvGrpSpPr/>
          <p:nvPr/>
        </p:nvGrpSpPr>
        <p:grpSpPr>
          <a:xfrm>
            <a:off x="9637875" y="2947248"/>
            <a:ext cx="7621425" cy="7339752"/>
            <a:chOff x="0" y="0"/>
            <a:chExt cx="2007289" cy="1933103"/>
          </a:xfrm>
        </p:grpSpPr>
        <p:sp>
          <p:nvSpPr>
            <p:cNvPr id="3" name="Freeform 3"/>
            <p:cNvSpPr/>
            <p:nvPr/>
          </p:nvSpPr>
          <p:spPr>
            <a:xfrm>
              <a:off x="0" y="0"/>
              <a:ext cx="2007289" cy="1933103"/>
            </a:xfrm>
            <a:custGeom>
              <a:avLst/>
              <a:gdLst/>
              <a:ahLst/>
              <a:cxnLst/>
              <a:rect l="l" t="t" r="r" b="b"/>
              <a:pathLst>
                <a:path w="2007289" h="1933103">
                  <a:moveTo>
                    <a:pt x="51806" y="0"/>
                  </a:moveTo>
                  <a:lnTo>
                    <a:pt x="1955482" y="0"/>
                  </a:lnTo>
                  <a:cubicBezTo>
                    <a:pt x="1969222" y="0"/>
                    <a:pt x="1982399" y="5458"/>
                    <a:pt x="1992115" y="15174"/>
                  </a:cubicBezTo>
                  <a:cubicBezTo>
                    <a:pt x="2001831" y="24889"/>
                    <a:pt x="2007289" y="38066"/>
                    <a:pt x="2007289" y="51806"/>
                  </a:cubicBezTo>
                  <a:lnTo>
                    <a:pt x="2007289" y="1881297"/>
                  </a:lnTo>
                  <a:cubicBezTo>
                    <a:pt x="2007289" y="1909909"/>
                    <a:pt x="1984094" y="1933103"/>
                    <a:pt x="1955482" y="1933103"/>
                  </a:cubicBezTo>
                  <a:lnTo>
                    <a:pt x="51806" y="1933103"/>
                  </a:lnTo>
                  <a:cubicBezTo>
                    <a:pt x="23194" y="1933103"/>
                    <a:pt x="0" y="1909909"/>
                    <a:pt x="0" y="1881297"/>
                  </a:cubicBezTo>
                  <a:lnTo>
                    <a:pt x="0" y="51806"/>
                  </a:lnTo>
                  <a:cubicBezTo>
                    <a:pt x="0" y="23194"/>
                    <a:pt x="23194" y="0"/>
                    <a:pt x="51806" y="0"/>
                  </a:cubicBezTo>
                  <a:close/>
                </a:path>
              </a:pathLst>
            </a:custGeom>
            <a:solidFill>
              <a:srgbClr val="C0B3A0">
                <a:alpha val="53725"/>
              </a:srgbClr>
            </a:solidFill>
          </p:spPr>
          <p:txBody>
            <a:bodyPr/>
            <a:lstStyle/>
            <a:p>
              <a:endParaRPr lang="en-IN"/>
            </a:p>
          </p:txBody>
        </p:sp>
        <p:sp>
          <p:nvSpPr>
            <p:cNvPr id="4" name="TextBox 4"/>
            <p:cNvSpPr txBox="1"/>
            <p:nvPr/>
          </p:nvSpPr>
          <p:spPr>
            <a:xfrm>
              <a:off x="0" y="-38100"/>
              <a:ext cx="2007289" cy="1971203"/>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0425624" y="4514171"/>
            <a:ext cx="6045927" cy="3733800"/>
          </a:xfrm>
          <a:prstGeom prst="rect">
            <a:avLst/>
          </a:prstGeom>
        </p:spPr>
        <p:txBody>
          <a:bodyPr lIns="0" tIns="0" rIns="0" bIns="0" rtlCol="0" anchor="t">
            <a:spAutoFit/>
          </a:bodyPr>
          <a:lstStyle/>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Single Text Emotion Detection</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Contextual Emotion Detection</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Conversation History Analysis</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Multi-model comparison</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Explainable AI (attention/gradients)</a:t>
            </a:r>
          </a:p>
          <a:p>
            <a:pPr algn="l">
              <a:lnSpc>
                <a:spcPts val="4200"/>
              </a:lnSpc>
            </a:pPr>
            <a:endParaRPr lang="en-US" sz="3000">
              <a:solidFill>
                <a:srgbClr val="252930"/>
              </a:solidFill>
              <a:latin typeface="Maven Pro"/>
              <a:ea typeface="Maven Pro"/>
              <a:cs typeface="Maven Pro"/>
              <a:sym typeface="Maven Pro"/>
            </a:endParaRPr>
          </a:p>
        </p:txBody>
      </p:sp>
      <p:sp>
        <p:nvSpPr>
          <p:cNvPr id="6" name="TextBox 6"/>
          <p:cNvSpPr txBox="1"/>
          <p:nvPr/>
        </p:nvSpPr>
        <p:spPr>
          <a:xfrm>
            <a:off x="2369670" y="1215177"/>
            <a:ext cx="11984505" cy="1732072"/>
          </a:xfrm>
          <a:prstGeom prst="rect">
            <a:avLst/>
          </a:prstGeom>
        </p:spPr>
        <p:txBody>
          <a:bodyPr lIns="0" tIns="0" rIns="0" bIns="0" rtlCol="0" anchor="t">
            <a:spAutoFit/>
          </a:bodyPr>
          <a:lstStyle/>
          <a:p>
            <a:pPr algn="ctr">
              <a:lnSpc>
                <a:spcPts val="6426"/>
              </a:lnSpc>
            </a:pPr>
            <a:r>
              <a:rPr lang="en-US" sz="8033" b="1">
                <a:solidFill>
                  <a:srgbClr val="252930"/>
                </a:solidFill>
                <a:latin typeface="Maven Pro Bold"/>
                <a:ea typeface="Maven Pro Bold"/>
                <a:cs typeface="Maven Pro Bold"/>
                <a:sym typeface="Maven Pro Bold"/>
              </a:rPr>
              <a:t>MODEL USED &amp; SYSTEM FEATURES</a:t>
            </a:r>
          </a:p>
        </p:txBody>
      </p:sp>
      <p:grpSp>
        <p:nvGrpSpPr>
          <p:cNvPr id="7" name="Group 7"/>
          <p:cNvGrpSpPr/>
          <p:nvPr/>
        </p:nvGrpSpPr>
        <p:grpSpPr>
          <a:xfrm>
            <a:off x="1028700" y="2947248"/>
            <a:ext cx="7817102" cy="7339752"/>
            <a:chOff x="0" y="0"/>
            <a:chExt cx="2058825" cy="1933103"/>
          </a:xfrm>
        </p:grpSpPr>
        <p:sp>
          <p:nvSpPr>
            <p:cNvPr id="8" name="Freeform 8"/>
            <p:cNvSpPr/>
            <p:nvPr/>
          </p:nvSpPr>
          <p:spPr>
            <a:xfrm>
              <a:off x="0" y="0"/>
              <a:ext cx="2058825" cy="1933103"/>
            </a:xfrm>
            <a:custGeom>
              <a:avLst/>
              <a:gdLst/>
              <a:ahLst/>
              <a:cxnLst/>
              <a:rect l="l" t="t" r="r" b="b"/>
              <a:pathLst>
                <a:path w="2058825" h="1933103">
                  <a:moveTo>
                    <a:pt x="50509" y="0"/>
                  </a:moveTo>
                  <a:lnTo>
                    <a:pt x="2008316" y="0"/>
                  </a:lnTo>
                  <a:cubicBezTo>
                    <a:pt x="2021712" y="0"/>
                    <a:pt x="2034559" y="5322"/>
                    <a:pt x="2044031" y="14794"/>
                  </a:cubicBezTo>
                  <a:cubicBezTo>
                    <a:pt x="2053504" y="24266"/>
                    <a:pt x="2058825" y="37114"/>
                    <a:pt x="2058825" y="50509"/>
                  </a:cubicBezTo>
                  <a:lnTo>
                    <a:pt x="2058825" y="1882594"/>
                  </a:lnTo>
                  <a:cubicBezTo>
                    <a:pt x="2058825" y="1895990"/>
                    <a:pt x="2053504" y="1908837"/>
                    <a:pt x="2044031" y="1918309"/>
                  </a:cubicBezTo>
                  <a:cubicBezTo>
                    <a:pt x="2034559" y="1927782"/>
                    <a:pt x="2021712" y="1933103"/>
                    <a:pt x="2008316" y="1933103"/>
                  </a:cubicBezTo>
                  <a:lnTo>
                    <a:pt x="50509" y="1933103"/>
                  </a:lnTo>
                  <a:cubicBezTo>
                    <a:pt x="37114" y="1933103"/>
                    <a:pt x="24266" y="1927782"/>
                    <a:pt x="14794" y="1918309"/>
                  </a:cubicBezTo>
                  <a:cubicBezTo>
                    <a:pt x="5322" y="1908837"/>
                    <a:pt x="0" y="1895990"/>
                    <a:pt x="0" y="1882594"/>
                  </a:cubicBezTo>
                  <a:lnTo>
                    <a:pt x="0" y="50509"/>
                  </a:lnTo>
                  <a:cubicBezTo>
                    <a:pt x="0" y="37114"/>
                    <a:pt x="5322" y="24266"/>
                    <a:pt x="14794" y="14794"/>
                  </a:cubicBezTo>
                  <a:cubicBezTo>
                    <a:pt x="24266" y="5322"/>
                    <a:pt x="37114" y="0"/>
                    <a:pt x="50509" y="0"/>
                  </a:cubicBezTo>
                  <a:close/>
                </a:path>
              </a:pathLst>
            </a:custGeom>
            <a:solidFill>
              <a:srgbClr val="C0B3A0">
                <a:alpha val="53725"/>
              </a:srgbClr>
            </a:solidFill>
          </p:spPr>
          <p:txBody>
            <a:bodyPr/>
            <a:lstStyle/>
            <a:p>
              <a:endParaRPr lang="en-IN"/>
            </a:p>
          </p:txBody>
        </p:sp>
        <p:sp>
          <p:nvSpPr>
            <p:cNvPr id="9" name="TextBox 9"/>
            <p:cNvSpPr txBox="1"/>
            <p:nvPr/>
          </p:nvSpPr>
          <p:spPr>
            <a:xfrm>
              <a:off x="0" y="-38100"/>
              <a:ext cx="2058825" cy="1971203"/>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2598772" y="3061548"/>
            <a:ext cx="4676959" cy="415927"/>
          </a:xfrm>
          <a:prstGeom prst="rect">
            <a:avLst/>
          </a:prstGeom>
        </p:spPr>
        <p:txBody>
          <a:bodyPr lIns="0" tIns="0" rIns="0" bIns="0" rtlCol="0" anchor="t">
            <a:spAutoFit/>
          </a:bodyPr>
          <a:lstStyle/>
          <a:p>
            <a:pPr algn="ctr">
              <a:lnSpc>
                <a:spcPts val="2800"/>
              </a:lnSpc>
            </a:pPr>
            <a:r>
              <a:rPr lang="en-US" sz="3500" b="1">
                <a:solidFill>
                  <a:srgbClr val="252930"/>
                </a:solidFill>
                <a:latin typeface="Maven Pro Bold"/>
                <a:ea typeface="Maven Pro Bold"/>
                <a:cs typeface="Maven Pro Bold"/>
                <a:sym typeface="Maven Pro Bold"/>
              </a:rPr>
              <a:t>Model Used</a:t>
            </a:r>
          </a:p>
        </p:txBody>
      </p:sp>
      <p:sp>
        <p:nvSpPr>
          <p:cNvPr id="11" name="TextBox 11"/>
          <p:cNvSpPr txBox="1"/>
          <p:nvPr/>
        </p:nvSpPr>
        <p:spPr>
          <a:xfrm>
            <a:off x="10744961" y="3279038"/>
            <a:ext cx="5407254" cy="577850"/>
          </a:xfrm>
          <a:prstGeom prst="rect">
            <a:avLst/>
          </a:prstGeom>
        </p:spPr>
        <p:txBody>
          <a:bodyPr lIns="0" tIns="0" rIns="0" bIns="0" rtlCol="0" anchor="t">
            <a:spAutoFit/>
          </a:bodyPr>
          <a:lstStyle/>
          <a:p>
            <a:pPr algn="ctr">
              <a:lnSpc>
                <a:spcPts val="4000"/>
              </a:lnSpc>
            </a:pPr>
            <a:r>
              <a:rPr lang="en-US" sz="5000" b="1">
                <a:solidFill>
                  <a:srgbClr val="252930"/>
                </a:solidFill>
                <a:latin typeface="Maven Pro Bold"/>
                <a:ea typeface="Maven Pro Bold"/>
                <a:cs typeface="Maven Pro Bold"/>
                <a:sym typeface="Maven Pro Bold"/>
              </a:rPr>
              <a:t>System Features</a:t>
            </a:r>
          </a:p>
        </p:txBody>
      </p:sp>
      <p:sp>
        <p:nvSpPr>
          <p:cNvPr id="12" name="TextBox 12"/>
          <p:cNvSpPr txBox="1"/>
          <p:nvPr/>
        </p:nvSpPr>
        <p:spPr>
          <a:xfrm>
            <a:off x="1334062" y="3401275"/>
            <a:ext cx="7206379" cy="7467600"/>
          </a:xfrm>
          <a:prstGeom prst="rect">
            <a:avLst/>
          </a:prstGeom>
        </p:spPr>
        <p:txBody>
          <a:bodyPr lIns="0" tIns="0" rIns="0" bIns="0" rtlCol="0" anchor="t">
            <a:spAutoFit/>
          </a:bodyPr>
          <a:lstStyle/>
          <a:p>
            <a:pPr algn="just">
              <a:lnSpc>
                <a:spcPts val="4200"/>
              </a:lnSpc>
            </a:pPr>
            <a:r>
              <a:rPr lang="en-US" sz="3000" b="1">
                <a:solidFill>
                  <a:srgbClr val="252930"/>
                </a:solidFill>
                <a:latin typeface="Maven Pro Bold"/>
                <a:ea typeface="Maven Pro Bold"/>
                <a:cs typeface="Maven Pro Bold"/>
                <a:sym typeface="Maven Pro Bold"/>
              </a:rPr>
              <a:t>1. TF-IDF + ML Model</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Converts text → numerical vectors</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Used with Logistic Regression / Naive Bayes</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Fast but less accurate</a:t>
            </a:r>
          </a:p>
          <a:p>
            <a:pPr algn="just">
              <a:lnSpc>
                <a:spcPts val="4200"/>
              </a:lnSpc>
            </a:pPr>
            <a:r>
              <a:rPr lang="en-US" sz="3000" b="1">
                <a:solidFill>
                  <a:srgbClr val="252930"/>
                </a:solidFill>
                <a:latin typeface="Maven Pro Bold"/>
                <a:ea typeface="Maven Pro Bold"/>
                <a:cs typeface="Maven Pro Bold"/>
                <a:sym typeface="Maven Pro Bold"/>
              </a:rPr>
              <a:t>2. BERT</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Understands bidirectional context</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Better accuracy</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Used for contextual prediction</a:t>
            </a:r>
          </a:p>
          <a:p>
            <a:pPr algn="just">
              <a:lnSpc>
                <a:spcPts val="4200"/>
              </a:lnSpc>
            </a:pPr>
            <a:r>
              <a:rPr lang="en-US" sz="3000" b="1">
                <a:solidFill>
                  <a:srgbClr val="252930"/>
                </a:solidFill>
                <a:latin typeface="Maven Pro Bold"/>
                <a:ea typeface="Maven Pro Bold"/>
                <a:cs typeface="Maven Pro Bold"/>
                <a:sym typeface="Maven Pro Bold"/>
              </a:rPr>
              <a:t>3. RoBERTa</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Improved version of BERT</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Better training &amp; performance</a:t>
            </a:r>
          </a:p>
          <a:p>
            <a:pPr marL="647700" lvl="1" indent="-323850" algn="just">
              <a:lnSpc>
                <a:spcPts val="4200"/>
              </a:lnSpc>
              <a:buFont typeface="Arial"/>
              <a:buChar char="•"/>
            </a:pPr>
            <a:r>
              <a:rPr lang="en-US" sz="3000">
                <a:solidFill>
                  <a:srgbClr val="252930"/>
                </a:solidFill>
                <a:latin typeface="Maven Pro"/>
                <a:ea typeface="Maven Pro"/>
                <a:cs typeface="Maven Pro"/>
                <a:sym typeface="Maven Pro"/>
              </a:rPr>
              <a:t>Used for advanced emotion detection</a:t>
            </a:r>
          </a:p>
          <a:p>
            <a:pPr algn="just">
              <a:lnSpc>
                <a:spcPts val="4200"/>
              </a:lnSpc>
            </a:pPr>
            <a:endParaRPr lang="en-US" sz="3000">
              <a:solidFill>
                <a:srgbClr val="252930"/>
              </a:solidFill>
              <a:latin typeface="Maven Pro"/>
              <a:ea typeface="Maven Pro"/>
              <a:cs typeface="Maven Pro"/>
              <a:sym typeface="Maven Pro"/>
            </a:endParaRPr>
          </a:p>
        </p:txBody>
      </p:sp>
      <p:sp>
        <p:nvSpPr>
          <p:cNvPr id="13" name="Freeform 13"/>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4" name="Freeform 14"/>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574194" y="3002965"/>
            <a:ext cx="8569806" cy="6370778"/>
          </a:xfrm>
          <a:prstGeom prst="rect">
            <a:avLst/>
          </a:prstGeom>
        </p:spPr>
        <p:txBody>
          <a:bodyPr lIns="0" tIns="0" rIns="0" bIns="0" rtlCol="0" anchor="t">
            <a:spAutoFit/>
          </a:bodyPr>
          <a:lstStyle/>
          <a:p>
            <a:pPr algn="just">
              <a:lnSpc>
                <a:spcPts val="2796"/>
              </a:lnSpc>
            </a:pPr>
            <a:r>
              <a:rPr lang="en-US" sz="1997">
                <a:solidFill>
                  <a:srgbClr val="252930"/>
                </a:solidFill>
                <a:latin typeface="Maven Pro"/>
                <a:ea typeface="Maven Pro"/>
                <a:cs typeface="Maven Pro"/>
                <a:sym typeface="Maven Pro"/>
              </a:rPr>
              <a:t>User provides input text</a:t>
            </a:r>
          </a:p>
          <a:p>
            <a:pPr marL="431332" lvl="1" indent="-215666" algn="just">
              <a:lnSpc>
                <a:spcPts val="2796"/>
              </a:lnSpc>
              <a:buFont typeface="Arial"/>
              <a:buChar char="•"/>
            </a:pPr>
            <a:r>
              <a:rPr lang="en-US" sz="1997">
                <a:solidFill>
                  <a:srgbClr val="252930"/>
                </a:solidFill>
                <a:latin typeface="Maven Pro"/>
                <a:ea typeface="Maven Pro"/>
                <a:cs typeface="Maven Pro"/>
                <a:sym typeface="Maven Pro"/>
              </a:rPr>
              <a:t>User selects feature type (Single Text / Contextual / Conversation)</a:t>
            </a:r>
          </a:p>
          <a:p>
            <a:pPr marL="431332" lvl="1" indent="-215666" algn="just">
              <a:lnSpc>
                <a:spcPts val="2796"/>
              </a:lnSpc>
              <a:buFont typeface="Arial"/>
              <a:buChar char="•"/>
            </a:pPr>
            <a:r>
              <a:rPr lang="en-US" sz="1997">
                <a:solidFill>
                  <a:srgbClr val="252930"/>
                </a:solidFill>
                <a:latin typeface="Maven Pro"/>
                <a:ea typeface="Maven Pro"/>
                <a:cs typeface="Maven Pro"/>
                <a:sym typeface="Maven Pro"/>
              </a:rPr>
              <a:t>Based on selection, appropriate preprocessing is applied</a:t>
            </a:r>
          </a:p>
          <a:p>
            <a:pPr algn="just">
              <a:lnSpc>
                <a:spcPts val="2796"/>
              </a:lnSpc>
            </a:pPr>
            <a:r>
              <a:rPr lang="en-US" sz="1997">
                <a:solidFill>
                  <a:srgbClr val="252930"/>
                </a:solidFill>
                <a:latin typeface="Maven Pro"/>
                <a:ea typeface="Maven Pro"/>
                <a:cs typeface="Maven Pro"/>
                <a:sym typeface="Maven Pro"/>
              </a:rPr>
              <a:t>            - Text cleaning and tokenization</a:t>
            </a:r>
          </a:p>
          <a:p>
            <a:pPr algn="just">
              <a:lnSpc>
                <a:spcPts val="2796"/>
              </a:lnSpc>
            </a:pPr>
            <a:r>
              <a:rPr lang="en-US" sz="1997">
                <a:solidFill>
                  <a:srgbClr val="252930"/>
                </a:solidFill>
                <a:latin typeface="Maven Pro"/>
                <a:ea typeface="Maven Pro"/>
                <a:cs typeface="Maven Pro"/>
                <a:sym typeface="Maven Pro"/>
              </a:rPr>
              <a:t>            - Conversion into model-compatible format</a:t>
            </a:r>
          </a:p>
          <a:p>
            <a:pPr marL="431332" lvl="1" indent="-215666" algn="just">
              <a:lnSpc>
                <a:spcPts val="2796"/>
              </a:lnSpc>
              <a:buFont typeface="Arial"/>
              <a:buChar char="•"/>
            </a:pPr>
            <a:r>
              <a:rPr lang="en-US" sz="1997">
                <a:solidFill>
                  <a:srgbClr val="252930"/>
                </a:solidFill>
                <a:latin typeface="Maven Pro"/>
                <a:ea typeface="Maven Pro"/>
                <a:cs typeface="Maven Pro"/>
                <a:sym typeface="Maven Pro"/>
              </a:rPr>
              <a:t>Model selection is done based on feature type:</a:t>
            </a:r>
          </a:p>
          <a:p>
            <a:pPr algn="just">
              <a:lnSpc>
                <a:spcPts val="2796"/>
              </a:lnSpc>
            </a:pPr>
            <a:r>
              <a:rPr lang="en-US" sz="1997">
                <a:solidFill>
                  <a:srgbClr val="252930"/>
                </a:solidFill>
                <a:latin typeface="Maven Pro"/>
                <a:ea typeface="Maven Pro"/>
                <a:cs typeface="Maven Pro"/>
                <a:sym typeface="Maven Pro"/>
              </a:rPr>
              <a:t>            - Single Text: TF-IDF + Logistic Regression, BERT</a:t>
            </a:r>
          </a:p>
          <a:p>
            <a:pPr algn="just">
              <a:lnSpc>
                <a:spcPts val="2796"/>
              </a:lnSpc>
            </a:pPr>
            <a:r>
              <a:rPr lang="en-US" sz="1997">
                <a:solidFill>
                  <a:srgbClr val="252930"/>
                </a:solidFill>
                <a:latin typeface="Maven Pro"/>
                <a:ea typeface="Maven Pro"/>
                <a:cs typeface="Maven Pro"/>
                <a:sym typeface="Maven Pro"/>
              </a:rPr>
              <a:t>            - Contextual: BERT, RoBERTa</a:t>
            </a:r>
          </a:p>
          <a:p>
            <a:pPr algn="just">
              <a:lnSpc>
                <a:spcPts val="2796"/>
              </a:lnSpc>
            </a:pPr>
            <a:r>
              <a:rPr lang="en-US" sz="1997">
                <a:solidFill>
                  <a:srgbClr val="252930"/>
                </a:solidFill>
                <a:latin typeface="Maven Pro"/>
                <a:ea typeface="Maven Pro"/>
                <a:cs typeface="Maven Pro"/>
                <a:sym typeface="Maven Pro"/>
              </a:rPr>
              <a:t>            - Conversation: BERT, RoBERTa</a:t>
            </a:r>
          </a:p>
          <a:p>
            <a:pPr marL="431332" lvl="1" indent="-215666" algn="just">
              <a:lnSpc>
                <a:spcPts val="2796"/>
              </a:lnSpc>
              <a:buFont typeface="Arial"/>
              <a:buChar char="•"/>
            </a:pPr>
            <a:r>
              <a:rPr lang="en-US" sz="1997">
                <a:solidFill>
                  <a:srgbClr val="252930"/>
                </a:solidFill>
                <a:latin typeface="Maven Pro"/>
                <a:ea typeface="Maven Pro"/>
                <a:cs typeface="Maven Pro"/>
                <a:sym typeface="Maven Pro"/>
              </a:rPr>
              <a:t>Selected model predicts the emotion from input text</a:t>
            </a:r>
          </a:p>
          <a:p>
            <a:pPr marL="431332" lvl="1" indent="-215666" algn="just">
              <a:lnSpc>
                <a:spcPts val="2796"/>
              </a:lnSpc>
              <a:buFont typeface="Arial"/>
              <a:buChar char="•"/>
            </a:pPr>
            <a:r>
              <a:rPr lang="en-US" sz="1997">
                <a:solidFill>
                  <a:srgbClr val="252930"/>
                </a:solidFill>
                <a:latin typeface="Maven Pro"/>
                <a:ea typeface="Maven Pro"/>
                <a:cs typeface="Maven Pro"/>
                <a:sym typeface="Maven Pro"/>
              </a:rPr>
              <a:t>Explainable AI (XAI) is applied to highlight important words contributing to the prediction</a:t>
            </a:r>
          </a:p>
          <a:p>
            <a:pPr marL="431332" lvl="1" indent="-215666" algn="just">
              <a:lnSpc>
                <a:spcPts val="2796"/>
              </a:lnSpc>
              <a:buFont typeface="Arial"/>
              <a:buChar char="•"/>
            </a:pPr>
            <a:r>
              <a:rPr lang="en-US" sz="1997">
                <a:solidFill>
                  <a:srgbClr val="252930"/>
                </a:solidFill>
                <a:latin typeface="Maven Pro"/>
                <a:ea typeface="Maven Pro"/>
                <a:cs typeface="Maven Pro"/>
                <a:sym typeface="Maven Pro"/>
              </a:rPr>
              <a:t>LLM (Gemini) generates a human-readable explanation for why that emotion was predicted</a:t>
            </a:r>
          </a:p>
          <a:p>
            <a:pPr marL="431332" lvl="1" indent="-215666" algn="just">
              <a:lnSpc>
                <a:spcPts val="2796"/>
              </a:lnSpc>
              <a:buFont typeface="Arial"/>
              <a:buChar char="•"/>
            </a:pPr>
            <a:r>
              <a:rPr lang="en-US" sz="1997">
                <a:solidFill>
                  <a:srgbClr val="252930"/>
                </a:solidFill>
                <a:latin typeface="Maven Pro"/>
                <a:ea typeface="Maven Pro"/>
                <a:cs typeface="Maven Pro"/>
                <a:sym typeface="Maven Pro"/>
              </a:rPr>
              <a:t>Final output is displayed:</a:t>
            </a:r>
          </a:p>
          <a:p>
            <a:pPr algn="just">
              <a:lnSpc>
                <a:spcPts val="2796"/>
              </a:lnSpc>
            </a:pPr>
            <a:r>
              <a:rPr lang="en-US" sz="1997">
                <a:solidFill>
                  <a:srgbClr val="252930"/>
                </a:solidFill>
                <a:latin typeface="Maven Pro"/>
                <a:ea typeface="Maven Pro"/>
                <a:cs typeface="Maven Pro"/>
                <a:sym typeface="Maven Pro"/>
              </a:rPr>
              <a:t>            - Predicted Emotion</a:t>
            </a:r>
          </a:p>
          <a:p>
            <a:pPr algn="just">
              <a:lnSpc>
                <a:spcPts val="2796"/>
              </a:lnSpc>
            </a:pPr>
            <a:r>
              <a:rPr lang="en-US" sz="1997">
                <a:solidFill>
                  <a:srgbClr val="252930"/>
                </a:solidFill>
                <a:latin typeface="Maven Pro"/>
                <a:ea typeface="Maven Pro"/>
                <a:cs typeface="Maven Pro"/>
                <a:sym typeface="Maven Pro"/>
              </a:rPr>
              <a:t>            - Explanation of prediction</a:t>
            </a:r>
          </a:p>
          <a:p>
            <a:pPr algn="just">
              <a:lnSpc>
                <a:spcPts val="2796"/>
              </a:lnSpc>
            </a:pPr>
            <a:endParaRPr lang="en-US" sz="1997">
              <a:solidFill>
                <a:srgbClr val="252930"/>
              </a:solidFill>
              <a:latin typeface="Maven Pro"/>
              <a:ea typeface="Maven Pro"/>
              <a:cs typeface="Maven Pro"/>
              <a:sym typeface="Maven Pro"/>
            </a:endParaRPr>
          </a:p>
        </p:txBody>
      </p:sp>
      <p:sp>
        <p:nvSpPr>
          <p:cNvPr id="3" name="Freeform 3"/>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5400000">
            <a:off x="15972490" y="900019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Freeform 6"/>
          <p:cNvSpPr/>
          <p:nvPr/>
        </p:nvSpPr>
        <p:spPr>
          <a:xfrm>
            <a:off x="11507429" y="430149"/>
            <a:ext cx="6780571" cy="10035246"/>
          </a:xfrm>
          <a:custGeom>
            <a:avLst/>
            <a:gdLst/>
            <a:ahLst/>
            <a:cxnLst/>
            <a:rect l="l" t="t" r="r" b="b"/>
            <a:pathLst>
              <a:path w="6780571" h="10035246">
                <a:moveTo>
                  <a:pt x="0" y="0"/>
                </a:moveTo>
                <a:lnTo>
                  <a:pt x="6780571" y="0"/>
                </a:lnTo>
                <a:lnTo>
                  <a:pt x="6780571" y="10035246"/>
                </a:lnTo>
                <a:lnTo>
                  <a:pt x="0" y="10035246"/>
                </a:lnTo>
                <a:lnTo>
                  <a:pt x="0" y="0"/>
                </a:lnTo>
                <a:close/>
              </a:path>
            </a:pathLst>
          </a:custGeom>
          <a:blipFill>
            <a:blip r:embed="rId5"/>
            <a:stretch>
              <a:fillRect/>
            </a:stretch>
          </a:blipFill>
        </p:spPr>
        <p:txBody>
          <a:bodyPr/>
          <a:lstStyle/>
          <a:p>
            <a:endParaRPr lang="en-IN"/>
          </a:p>
        </p:txBody>
      </p:sp>
      <p:sp>
        <p:nvSpPr>
          <p:cNvPr id="7" name="TextBox 7"/>
          <p:cNvSpPr txBox="1"/>
          <p:nvPr/>
        </p:nvSpPr>
        <p:spPr>
          <a:xfrm>
            <a:off x="3065598" y="1031874"/>
            <a:ext cx="8441831" cy="920751"/>
          </a:xfrm>
          <a:prstGeom prst="rect">
            <a:avLst/>
          </a:prstGeom>
        </p:spPr>
        <p:txBody>
          <a:bodyPr lIns="0" tIns="0" rIns="0" bIns="0" rtlCol="0" anchor="t">
            <a:spAutoFit/>
          </a:bodyPr>
          <a:lstStyle/>
          <a:p>
            <a:pPr algn="ctr">
              <a:lnSpc>
                <a:spcPts val="6400"/>
              </a:lnSpc>
            </a:pPr>
            <a:r>
              <a:rPr lang="en-US" sz="8000" b="1">
                <a:solidFill>
                  <a:srgbClr val="252930"/>
                </a:solidFill>
                <a:latin typeface="Maven Pro Bold"/>
                <a:ea typeface="Maven Pro Bold"/>
                <a:cs typeface="Maven Pro Bold"/>
                <a:sym typeface="Maven Pro Bold"/>
              </a:rPr>
              <a:t>METHODOLOGY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999625" y="932825"/>
            <a:ext cx="12288749" cy="1411625"/>
          </a:xfrm>
          <a:prstGeom prst="rect">
            <a:avLst/>
          </a:prstGeom>
        </p:spPr>
        <p:txBody>
          <a:bodyPr lIns="0" tIns="0" rIns="0" bIns="0" rtlCol="0" anchor="t">
            <a:spAutoFit/>
          </a:bodyPr>
          <a:lstStyle/>
          <a:p>
            <a:pPr algn="ctr">
              <a:lnSpc>
                <a:spcPts val="5280"/>
              </a:lnSpc>
            </a:pPr>
            <a:r>
              <a:rPr lang="en-US" sz="6000" b="1" dirty="0">
                <a:solidFill>
                  <a:srgbClr val="252930"/>
                </a:solidFill>
                <a:latin typeface="Cabin Bold"/>
                <a:ea typeface="Cabin Bold"/>
                <a:cs typeface="Cabin Bold"/>
                <a:sym typeface="Cabin Bold"/>
              </a:rPr>
              <a:t>MODEL EVOLUTION / COMPARISON</a:t>
            </a:r>
          </a:p>
        </p:txBody>
      </p:sp>
      <p:sp>
        <p:nvSpPr>
          <p:cNvPr id="3" name="Freeform 3"/>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aphicFrame>
        <p:nvGraphicFramePr>
          <p:cNvPr id="5" name="Table 5"/>
          <p:cNvGraphicFramePr>
            <a:graphicFrameLocks noGrp="1"/>
          </p:cNvGraphicFramePr>
          <p:nvPr>
            <p:extLst>
              <p:ext uri="{D42A27DB-BD31-4B8C-83A1-F6EECF244321}">
                <p14:modId xmlns:p14="http://schemas.microsoft.com/office/powerpoint/2010/main" val="780314389"/>
              </p:ext>
            </p:extLst>
          </p:nvPr>
        </p:nvGraphicFramePr>
        <p:xfrm>
          <a:off x="609600" y="2180138"/>
          <a:ext cx="17297401" cy="8073116"/>
        </p:xfrm>
        <a:graphic>
          <a:graphicData uri="http://schemas.openxmlformats.org/drawingml/2006/table">
            <a:tbl>
              <a:tblPr/>
              <a:tblGrid>
                <a:gridCol w="2976798">
                  <a:extLst>
                    <a:ext uri="{9D8B030D-6E8A-4147-A177-3AD203B41FA5}">
                      <a16:colId xmlns:a16="http://schemas.microsoft.com/office/drawing/2014/main" val="20000"/>
                    </a:ext>
                  </a:extLst>
                </a:gridCol>
                <a:gridCol w="3881202">
                  <a:extLst>
                    <a:ext uri="{9D8B030D-6E8A-4147-A177-3AD203B41FA5}">
                      <a16:colId xmlns:a16="http://schemas.microsoft.com/office/drawing/2014/main" val="20001"/>
                    </a:ext>
                  </a:extLst>
                </a:gridCol>
                <a:gridCol w="3995581">
                  <a:extLst>
                    <a:ext uri="{9D8B030D-6E8A-4147-A177-3AD203B41FA5}">
                      <a16:colId xmlns:a16="http://schemas.microsoft.com/office/drawing/2014/main" val="20002"/>
                    </a:ext>
                  </a:extLst>
                </a:gridCol>
                <a:gridCol w="3316184">
                  <a:extLst>
                    <a:ext uri="{9D8B030D-6E8A-4147-A177-3AD203B41FA5}">
                      <a16:colId xmlns:a16="http://schemas.microsoft.com/office/drawing/2014/main" val="20003"/>
                    </a:ext>
                  </a:extLst>
                </a:gridCol>
                <a:gridCol w="3127636">
                  <a:extLst>
                    <a:ext uri="{9D8B030D-6E8A-4147-A177-3AD203B41FA5}">
                      <a16:colId xmlns:a16="http://schemas.microsoft.com/office/drawing/2014/main" val="20004"/>
                    </a:ext>
                  </a:extLst>
                </a:gridCol>
              </a:tblGrid>
              <a:tr h="769736">
                <a:tc>
                  <a:txBody>
                    <a:bodyPr/>
                    <a:lstStyle/>
                    <a:p>
                      <a:pPr algn="ctr">
                        <a:lnSpc>
                          <a:spcPts val="5179"/>
                        </a:lnSpc>
                        <a:defRPr/>
                      </a:pPr>
                      <a:r>
                        <a:rPr lang="en-US" sz="3699" b="1">
                          <a:solidFill>
                            <a:srgbClr val="000000"/>
                          </a:solidFill>
                          <a:latin typeface="Canva Sans Bold"/>
                          <a:ea typeface="Canva Sans Bold"/>
                          <a:cs typeface="Canva Sans Bold"/>
                          <a:sym typeface="Canva Sans Bold"/>
                        </a:rPr>
                        <a:t>Type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179"/>
                        </a:lnSpc>
                        <a:defRPr/>
                      </a:pPr>
                      <a:r>
                        <a:rPr lang="en-US" sz="3699" b="1">
                          <a:solidFill>
                            <a:srgbClr val="000000"/>
                          </a:solidFill>
                          <a:latin typeface="Cabin Bold"/>
                          <a:ea typeface="Cabin Bold"/>
                          <a:cs typeface="Cabin Bold"/>
                          <a:sym typeface="Cabin Bold"/>
                        </a:rPr>
                        <a:t>Strength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179"/>
                        </a:lnSpc>
                        <a:defRPr/>
                      </a:pPr>
                      <a:r>
                        <a:rPr lang="en-US" sz="3699" b="1">
                          <a:solidFill>
                            <a:srgbClr val="000000"/>
                          </a:solidFill>
                          <a:latin typeface="Cabin Bold"/>
                          <a:ea typeface="Cabin Bold"/>
                          <a:cs typeface="Cabin Bold"/>
                          <a:sym typeface="Cabin Bold"/>
                        </a:rPr>
                        <a:t>Limitations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179"/>
                        </a:lnSpc>
                        <a:defRPr/>
                      </a:pPr>
                      <a:r>
                        <a:rPr lang="en-US" sz="3699" b="1">
                          <a:solidFill>
                            <a:srgbClr val="000000"/>
                          </a:solidFill>
                          <a:latin typeface="Cabin Bold"/>
                          <a:ea typeface="Cabin Bold"/>
                          <a:cs typeface="Cabin Bold"/>
                          <a:sym typeface="Cabin Bold"/>
                        </a:rPr>
                        <a:t>Model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179"/>
                        </a:lnSpc>
                        <a:defRPr/>
                      </a:pPr>
                      <a:r>
                        <a:rPr lang="en-US" sz="3699" b="1">
                          <a:solidFill>
                            <a:srgbClr val="000000"/>
                          </a:solidFill>
                          <a:latin typeface="Cabin Bold"/>
                          <a:ea typeface="Cabin Bold"/>
                          <a:cs typeface="Cabin Bold"/>
                          <a:sym typeface="Cabin Bold"/>
                        </a:rPr>
                        <a:t>Accuracy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568318">
                <a:tc>
                  <a:txBody>
                    <a:bodyPr/>
                    <a:lstStyle/>
                    <a:p>
                      <a:pPr algn="ctr">
                        <a:lnSpc>
                          <a:spcPts val="4059"/>
                        </a:lnSpc>
                        <a:defRPr/>
                      </a:pPr>
                      <a:r>
                        <a:rPr lang="en-US" sz="2899">
                          <a:solidFill>
                            <a:srgbClr val="000000"/>
                          </a:solidFill>
                          <a:latin typeface="Cabin"/>
                          <a:ea typeface="Cabin"/>
                          <a:cs typeface="Cabin"/>
                          <a:sym typeface="Cabin"/>
                        </a:rPr>
                        <a:t>Traditional ML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Cabin"/>
                          <a:ea typeface="Cabin"/>
                          <a:cs typeface="Cabin"/>
                          <a:sym typeface="Cabin"/>
                        </a:rPr>
                        <a:t>Fast, Simple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dirty="0">
                          <a:solidFill>
                            <a:srgbClr val="000000"/>
                          </a:solidFill>
                          <a:latin typeface="Cabin"/>
                          <a:ea typeface="Cabin"/>
                          <a:cs typeface="Cabin"/>
                          <a:sym typeface="Cabin"/>
                        </a:rPr>
                        <a:t>No Context Understanding </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4059"/>
                        </a:lnSpc>
                        <a:defRPr/>
                      </a:pPr>
                      <a:r>
                        <a:rPr lang="en-US" sz="2899" dirty="0">
                          <a:solidFill>
                            <a:srgbClr val="000000"/>
                          </a:solidFill>
                          <a:latin typeface="Canva Sans"/>
                          <a:ea typeface="Canva Sans"/>
                          <a:cs typeface="Canva Sans"/>
                          <a:sym typeface="Canva Sans"/>
                        </a:rPr>
                        <a:t>TF-IDF + Logistic Regression</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Cabin"/>
                          <a:ea typeface="Cabin"/>
                          <a:cs typeface="Cabin"/>
                          <a:sym typeface="Cabin"/>
                        </a:rPr>
                        <a:t>36.4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20110">
                <a:tc>
                  <a:txBody>
                    <a:bodyPr/>
                    <a:lstStyle/>
                    <a:p>
                      <a:pPr algn="ctr">
                        <a:lnSpc>
                          <a:spcPts val="4059"/>
                        </a:lnSpc>
                        <a:defRPr/>
                      </a:pPr>
                      <a:r>
                        <a:rPr lang="en-US" sz="2899">
                          <a:solidFill>
                            <a:srgbClr val="000000"/>
                          </a:solidFill>
                          <a:latin typeface="Cabin"/>
                          <a:ea typeface="Cabin"/>
                          <a:cs typeface="Cabin"/>
                          <a:sym typeface="Cabin"/>
                        </a:rPr>
                        <a:t>Deep Learning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Cabin"/>
                          <a:ea typeface="Cabin"/>
                          <a:cs typeface="Cabin"/>
                          <a:sym typeface="Cabin"/>
                        </a:rPr>
                        <a:t>Understands bidirectional context, better accuracy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dirty="0">
                          <a:solidFill>
                            <a:srgbClr val="000000"/>
                          </a:solidFill>
                          <a:latin typeface="Cabin"/>
                          <a:ea typeface="Cabin"/>
                          <a:cs typeface="Cabin"/>
                          <a:sym typeface="Cabin"/>
                        </a:rPr>
                        <a:t>Computationally expensive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919"/>
                        </a:lnSpc>
                        <a:defRPr/>
                      </a:pPr>
                      <a:r>
                        <a:rPr lang="en-US" sz="2799" dirty="0">
                          <a:solidFill>
                            <a:srgbClr val="000000"/>
                          </a:solidFill>
                          <a:latin typeface="Canva Sans"/>
                          <a:ea typeface="Canva Sans"/>
                          <a:cs typeface="Canva Sans"/>
                          <a:sym typeface="Canva Sans"/>
                        </a:rPr>
                        <a:t>BERT Transformer</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dirty="0">
                          <a:solidFill>
                            <a:srgbClr val="000000"/>
                          </a:solidFill>
                          <a:latin typeface="Cabin"/>
                          <a:ea typeface="Cabin"/>
                          <a:cs typeface="Cabin"/>
                          <a:sym typeface="Cabin"/>
                        </a:rPr>
                        <a:t>48.7</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13227">
                <a:tc>
                  <a:txBody>
                    <a:bodyPr/>
                    <a:lstStyle/>
                    <a:p>
                      <a:pPr algn="ctr">
                        <a:lnSpc>
                          <a:spcPts val="4199"/>
                        </a:lnSpc>
                        <a:defRPr/>
                      </a:pPr>
                      <a:r>
                        <a:rPr lang="en-US" sz="2999">
                          <a:solidFill>
                            <a:srgbClr val="000000"/>
                          </a:solidFill>
                          <a:latin typeface="Cabin"/>
                          <a:ea typeface="Cabin"/>
                          <a:cs typeface="Cabin"/>
                          <a:sym typeface="Cabin"/>
                        </a:rPr>
                        <a:t>Advanced Transformer</a:t>
                      </a:r>
                      <a:endParaRPr lang="en-US" sz="1100"/>
                    </a:p>
                    <a:p>
                      <a:pPr algn="ctr">
                        <a:lnSpc>
                          <a:spcPts val="4199"/>
                        </a:lnSpc>
                      </a:pPr>
                      <a:endParaRPr lang="en-US" sz="1100"/>
                    </a:p>
                    <a:p>
                      <a:pPr algn="ctr">
                        <a:lnSpc>
                          <a:spcPts val="419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Cabin"/>
                          <a:ea typeface="Cabin"/>
                          <a:cs typeface="Cabin"/>
                          <a:sym typeface="Cabin"/>
                        </a:rPr>
                        <a:t>Improved training, best performance, strong context understanding</a:t>
                      </a:r>
                      <a:endParaRPr lang="en-US" sz="1100"/>
                    </a:p>
                    <a:p>
                      <a:pPr algn="ctr">
                        <a:lnSpc>
                          <a:spcPts val="4199"/>
                        </a:lnSpc>
                      </a:pPr>
                      <a:endParaRPr lang="en-US" sz="1100"/>
                    </a:p>
                    <a:p>
                      <a:pPr algn="ctr">
                        <a:lnSpc>
                          <a:spcPts val="419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dirty="0">
                          <a:solidFill>
                            <a:srgbClr val="000000"/>
                          </a:solidFill>
                          <a:latin typeface="Cabin"/>
                          <a:ea typeface="Cabin"/>
                          <a:cs typeface="Cabin"/>
                          <a:sym typeface="Cabin"/>
                        </a:rPr>
                        <a:t>High resource usage</a:t>
                      </a:r>
                      <a:endParaRPr lang="en-US" sz="1100" dirty="0"/>
                    </a:p>
                    <a:p>
                      <a:pPr algn="ctr">
                        <a:lnSpc>
                          <a:spcPts val="4199"/>
                        </a:lnSpc>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4059"/>
                        </a:lnSpc>
                        <a:defRPr/>
                      </a:pPr>
                      <a:endParaRPr lang="en-US" sz="1100"/>
                    </a:p>
                    <a:p>
                      <a:pPr algn="just">
                        <a:lnSpc>
                          <a:spcPts val="4059"/>
                        </a:lnSpc>
                      </a:pPr>
                      <a:r>
                        <a:rPr lang="en-US" sz="2899">
                          <a:solidFill>
                            <a:srgbClr val="000000"/>
                          </a:solidFill>
                          <a:latin typeface="Canva Sans"/>
                          <a:ea typeface="Canva Sans"/>
                          <a:cs typeface="Canva Sans"/>
                          <a:sym typeface="Canva Sans"/>
                        </a:rPr>
                        <a:t>RoBERTa</a:t>
                      </a:r>
                    </a:p>
                    <a:p>
                      <a:pPr algn="l">
                        <a:lnSpc>
                          <a:spcPts val="4059"/>
                        </a:lnSpc>
                      </a:pPr>
                      <a:endParaRPr lang="en-US" sz="2899">
                        <a:solidFill>
                          <a:srgbClr val="000000"/>
                        </a:solidFill>
                        <a:latin typeface="Canva Sans"/>
                        <a:ea typeface="Canva Sans"/>
                        <a:cs typeface="Canva Sans"/>
                        <a:sym typeface="Canva Sans"/>
                      </a:endParaRPr>
                    </a:p>
                    <a:p>
                      <a:pPr algn="l">
                        <a:lnSpc>
                          <a:spcPts val="4059"/>
                        </a:lnSpc>
                      </a:pPr>
                      <a:endParaRPr lang="en-US" sz="2899">
                        <a:solidFill>
                          <a:srgbClr val="000000"/>
                        </a:solidFill>
                        <a:latin typeface="Canva Sans"/>
                        <a:ea typeface="Canva Sans"/>
                        <a:cs typeface="Canva Sans"/>
                        <a:sym typeface="Canva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dirty="0">
                          <a:solidFill>
                            <a:srgbClr val="000000"/>
                          </a:solidFill>
                          <a:latin typeface="Cabin"/>
                          <a:sym typeface="Cabin"/>
                        </a:rPr>
                        <a:t>90.46</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999625" y="1235069"/>
            <a:ext cx="12288749" cy="1730388"/>
          </a:xfrm>
          <a:prstGeom prst="rect">
            <a:avLst/>
          </a:prstGeom>
        </p:spPr>
        <p:txBody>
          <a:bodyPr lIns="0" tIns="0" rIns="0" bIns="0" rtlCol="0" anchor="t">
            <a:spAutoFit/>
          </a:bodyPr>
          <a:lstStyle/>
          <a:p>
            <a:pPr algn="ctr">
              <a:lnSpc>
                <a:spcPts val="6400"/>
              </a:lnSpc>
            </a:pPr>
            <a:r>
              <a:rPr lang="en-US" sz="8000" b="1">
                <a:solidFill>
                  <a:srgbClr val="252930"/>
                </a:solidFill>
                <a:latin typeface="Maven Pro Bold"/>
                <a:ea typeface="Maven Pro Bold"/>
                <a:cs typeface="Maven Pro Bold"/>
                <a:sym typeface="Maven Pro Bold"/>
              </a:rPr>
              <a:t>CONTEXT LABEL COMPARISON</a:t>
            </a:r>
          </a:p>
        </p:txBody>
      </p:sp>
      <p:sp>
        <p:nvSpPr>
          <p:cNvPr id="3" name="Freeform 3"/>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aphicFrame>
        <p:nvGraphicFramePr>
          <p:cNvPr id="6" name="Table 6"/>
          <p:cNvGraphicFramePr>
            <a:graphicFrameLocks noGrp="1"/>
          </p:cNvGraphicFramePr>
          <p:nvPr/>
        </p:nvGraphicFramePr>
        <p:xfrm>
          <a:off x="2999625" y="4114800"/>
          <a:ext cx="12077292" cy="5086350"/>
        </p:xfrm>
        <a:graphic>
          <a:graphicData uri="http://schemas.openxmlformats.org/drawingml/2006/table">
            <a:tbl>
              <a:tblPr/>
              <a:tblGrid>
                <a:gridCol w="3417058">
                  <a:extLst>
                    <a:ext uri="{9D8B030D-6E8A-4147-A177-3AD203B41FA5}">
                      <a16:colId xmlns:a16="http://schemas.microsoft.com/office/drawing/2014/main" val="20000"/>
                    </a:ext>
                  </a:extLst>
                </a:gridCol>
                <a:gridCol w="4973080">
                  <a:extLst>
                    <a:ext uri="{9D8B030D-6E8A-4147-A177-3AD203B41FA5}">
                      <a16:colId xmlns:a16="http://schemas.microsoft.com/office/drawing/2014/main" val="20001"/>
                    </a:ext>
                  </a:extLst>
                </a:gridCol>
                <a:gridCol w="3687154">
                  <a:extLst>
                    <a:ext uri="{9D8B030D-6E8A-4147-A177-3AD203B41FA5}">
                      <a16:colId xmlns:a16="http://schemas.microsoft.com/office/drawing/2014/main" val="20002"/>
                    </a:ext>
                  </a:extLst>
                </a:gridCol>
              </a:tblGrid>
              <a:tr h="1026867">
                <a:tc>
                  <a:txBody>
                    <a:bodyPr/>
                    <a:lstStyle/>
                    <a:p>
                      <a:pPr algn="ctr">
                        <a:lnSpc>
                          <a:spcPts val="3919"/>
                        </a:lnSpc>
                        <a:defRPr/>
                      </a:pPr>
                      <a:r>
                        <a:rPr lang="en-US" sz="2799" b="1">
                          <a:solidFill>
                            <a:srgbClr val="000000"/>
                          </a:solidFill>
                          <a:latin typeface="Cabin Bold"/>
                          <a:ea typeface="Cabin Bold"/>
                          <a:cs typeface="Cabin Bold"/>
                          <a:sym typeface="Cabin Bold"/>
                        </a:rPr>
                        <a:t>Context Label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19"/>
                        </a:lnSpc>
                        <a:defRPr/>
                      </a:pPr>
                      <a:r>
                        <a:rPr lang="en-US" sz="2799" b="1">
                          <a:solidFill>
                            <a:srgbClr val="000000"/>
                          </a:solidFill>
                          <a:latin typeface="Cabin Bold"/>
                          <a:ea typeface="Cabin Bold"/>
                          <a:cs typeface="Cabin Bold"/>
                          <a:sym typeface="Cabin Bold"/>
                        </a:rPr>
                        <a:t>Description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19"/>
                        </a:lnSpc>
                        <a:defRPr/>
                      </a:pPr>
                      <a:r>
                        <a:rPr lang="en-US" sz="2799" b="1">
                          <a:solidFill>
                            <a:srgbClr val="000000"/>
                          </a:solidFill>
                          <a:latin typeface="Cabin Bold"/>
                          <a:ea typeface="Cabin Bold"/>
                          <a:cs typeface="Cabin Bold"/>
                          <a:sym typeface="Cabin Bold"/>
                        </a:rPr>
                        <a:t>Accuracy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26867">
                <a:tc>
                  <a:txBody>
                    <a:bodyPr/>
                    <a:lstStyle/>
                    <a:p>
                      <a:pPr algn="ctr">
                        <a:lnSpc>
                          <a:spcPts val="3919"/>
                        </a:lnSpc>
                        <a:defRPr/>
                      </a:pPr>
                      <a:r>
                        <a:rPr lang="en-US" sz="2799">
                          <a:solidFill>
                            <a:srgbClr val="000000"/>
                          </a:solidFill>
                          <a:latin typeface="Cabin"/>
                          <a:ea typeface="Cabin"/>
                          <a:cs typeface="Cabin"/>
                          <a:sym typeface="Cabin"/>
                        </a:rPr>
                        <a:t>Emotion Same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19"/>
                        </a:lnSpc>
                        <a:defRPr/>
                      </a:pPr>
                      <a:r>
                        <a:rPr lang="en-US" sz="2799">
                          <a:solidFill>
                            <a:srgbClr val="000000"/>
                          </a:solidFill>
                          <a:latin typeface="Cabin"/>
                          <a:ea typeface="Cabin"/>
                          <a:cs typeface="Cabin"/>
                          <a:sym typeface="Cabin"/>
                        </a:rPr>
                        <a:t>Emotion remains consistent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19"/>
                        </a:lnSpc>
                        <a:defRPr/>
                      </a:pPr>
                      <a:r>
                        <a:rPr lang="en-US" sz="2799">
                          <a:solidFill>
                            <a:srgbClr val="000000"/>
                          </a:solidFill>
                          <a:latin typeface="Cabin"/>
                          <a:ea typeface="Cabin"/>
                          <a:cs typeface="Cabin"/>
                          <a:sym typeface="Cabin"/>
                        </a:rPr>
                        <a:t>49.77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16308">
                <a:tc>
                  <a:txBody>
                    <a:bodyPr/>
                    <a:lstStyle/>
                    <a:p>
                      <a:pPr algn="ctr">
                        <a:lnSpc>
                          <a:spcPts val="3919"/>
                        </a:lnSpc>
                        <a:defRPr/>
                      </a:pPr>
                      <a:r>
                        <a:rPr lang="en-US" sz="2799">
                          <a:solidFill>
                            <a:srgbClr val="000000"/>
                          </a:solidFill>
                          <a:latin typeface="Cabin"/>
                          <a:ea typeface="Cabin"/>
                          <a:cs typeface="Cabin"/>
                          <a:sym typeface="Cabin"/>
                        </a:rPr>
                        <a:t>Emotion Shift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19"/>
                        </a:lnSpc>
                        <a:defRPr/>
                      </a:pPr>
                      <a:r>
                        <a:rPr lang="en-US" sz="2799">
                          <a:solidFill>
                            <a:srgbClr val="000000"/>
                          </a:solidFill>
                          <a:latin typeface="Cabin"/>
                          <a:ea typeface="Cabin"/>
                          <a:cs typeface="Cabin"/>
                          <a:sym typeface="Cabin"/>
                        </a:rPr>
                        <a:t>Emotion changes between messages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19"/>
                        </a:lnSpc>
                        <a:defRPr/>
                      </a:pPr>
                      <a:r>
                        <a:rPr lang="en-US" sz="2799">
                          <a:solidFill>
                            <a:srgbClr val="000000"/>
                          </a:solidFill>
                          <a:latin typeface="Cabin"/>
                          <a:ea typeface="Cabin"/>
                          <a:cs typeface="Cabin"/>
                          <a:sym typeface="Cabin"/>
                        </a:rPr>
                        <a:t>87.22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16308">
                <a:tc>
                  <a:txBody>
                    <a:bodyPr/>
                    <a:lstStyle/>
                    <a:p>
                      <a:pPr algn="ctr">
                        <a:lnSpc>
                          <a:spcPts val="3919"/>
                        </a:lnSpc>
                        <a:defRPr/>
                      </a:pPr>
                      <a:r>
                        <a:rPr lang="en-US" sz="2799">
                          <a:solidFill>
                            <a:srgbClr val="000000"/>
                          </a:solidFill>
                          <a:latin typeface="Canva Sans"/>
                          <a:ea typeface="Canva Sans"/>
                          <a:cs typeface="Canva Sans"/>
                          <a:sym typeface="Canva Sans"/>
                        </a:rPr>
                        <a:t>Window_3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19"/>
                        </a:lnSpc>
                        <a:defRPr/>
                      </a:pPr>
                      <a:r>
                        <a:rPr lang="en-US" sz="2799">
                          <a:solidFill>
                            <a:srgbClr val="000000"/>
                          </a:solidFill>
                          <a:latin typeface="Cabin"/>
                          <a:ea typeface="Cabin"/>
                          <a:cs typeface="Cabin"/>
                          <a:sym typeface="Cabin"/>
                        </a:rPr>
                        <a:t>Uses last 3 messages for deeper understanding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19"/>
                        </a:lnSpc>
                        <a:defRPr/>
                      </a:pPr>
                      <a:r>
                        <a:rPr lang="en-US" sz="2799">
                          <a:solidFill>
                            <a:srgbClr val="000000"/>
                          </a:solidFill>
                          <a:latin typeface="Cabin"/>
                          <a:ea typeface="Cabin"/>
                          <a:cs typeface="Cabin"/>
                          <a:sym typeface="Cabin"/>
                        </a:rPr>
                        <a:t>55.33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924673" y="2178051"/>
            <a:ext cx="8219327" cy="3085465"/>
          </a:xfrm>
          <a:prstGeom prst="rect">
            <a:avLst/>
          </a:prstGeom>
        </p:spPr>
        <p:txBody>
          <a:bodyPr lIns="0" tIns="0" rIns="0" bIns="0" rtlCol="0" anchor="t">
            <a:spAutoFit/>
          </a:bodyPr>
          <a:lstStyle/>
          <a:p>
            <a:pPr algn="just">
              <a:lnSpc>
                <a:spcPts val="4759"/>
              </a:lnSpc>
            </a:pPr>
            <a:r>
              <a:rPr lang="en-US" sz="3399" b="1">
                <a:solidFill>
                  <a:srgbClr val="252930"/>
                </a:solidFill>
                <a:latin typeface="Cabin Bold"/>
                <a:ea typeface="Cabin Bold"/>
                <a:cs typeface="Cabin Bold"/>
                <a:sym typeface="Cabin Bold"/>
              </a:rPr>
              <a:t>Model1:TF-IDF+Logistic Regression</a:t>
            </a:r>
          </a:p>
          <a:p>
            <a:pPr marL="582932" lvl="1" indent="-291466" algn="just">
              <a:lnSpc>
                <a:spcPts val="3780"/>
              </a:lnSpc>
              <a:buFont typeface="Arial"/>
              <a:buChar char="•"/>
            </a:pPr>
            <a:r>
              <a:rPr lang="en-US" sz="2700">
                <a:solidFill>
                  <a:srgbClr val="252930"/>
                </a:solidFill>
                <a:latin typeface="Cabin"/>
                <a:ea typeface="Cabin"/>
                <a:cs typeface="Cabin"/>
                <a:sym typeface="Cabin"/>
              </a:rPr>
              <a:t>Achieved basic accuracy </a:t>
            </a:r>
          </a:p>
          <a:p>
            <a:pPr marL="582932" lvl="1" indent="-291466" algn="just">
              <a:lnSpc>
                <a:spcPts val="3780"/>
              </a:lnSpc>
              <a:buFont typeface="Arial"/>
              <a:buChar char="•"/>
            </a:pPr>
            <a:r>
              <a:rPr lang="en-US" sz="2700">
                <a:solidFill>
                  <a:srgbClr val="252930"/>
                </a:solidFill>
                <a:latin typeface="Cabin"/>
                <a:ea typeface="Cabin"/>
                <a:cs typeface="Cabin"/>
                <a:sym typeface="Cabin"/>
              </a:rPr>
              <a:t>Converts text into numerical vectors using word frequency</a:t>
            </a:r>
          </a:p>
          <a:p>
            <a:pPr marL="582932" lvl="1" indent="-291466" algn="just">
              <a:lnSpc>
                <a:spcPts val="3780"/>
              </a:lnSpc>
              <a:buFont typeface="Arial"/>
              <a:buChar char="•"/>
            </a:pPr>
            <a:r>
              <a:rPr lang="en-US" sz="2700">
                <a:solidFill>
                  <a:srgbClr val="252930"/>
                </a:solidFill>
                <a:latin typeface="Cabin"/>
                <a:ea typeface="Cabin"/>
                <a:cs typeface="Cabin"/>
                <a:sym typeface="Cabin"/>
              </a:rPr>
              <a:t>Performs well on simple and clear sentences</a:t>
            </a:r>
          </a:p>
          <a:p>
            <a:pPr algn="just">
              <a:lnSpc>
                <a:spcPts val="4759"/>
              </a:lnSpc>
            </a:pPr>
            <a:endParaRPr lang="en-US" sz="2700">
              <a:solidFill>
                <a:srgbClr val="252930"/>
              </a:solidFill>
              <a:latin typeface="Cabin"/>
              <a:ea typeface="Cabin"/>
              <a:cs typeface="Cabin"/>
              <a:sym typeface="Cabin"/>
            </a:endParaRPr>
          </a:p>
        </p:txBody>
      </p:sp>
      <p:sp>
        <p:nvSpPr>
          <p:cNvPr id="3" name="Freeform 3"/>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5400000">
            <a:off x="15972490" y="900019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Freeform 6"/>
          <p:cNvSpPr/>
          <p:nvPr/>
        </p:nvSpPr>
        <p:spPr>
          <a:xfrm>
            <a:off x="11374891" y="2446317"/>
            <a:ext cx="6398759" cy="6840053"/>
          </a:xfrm>
          <a:custGeom>
            <a:avLst/>
            <a:gdLst/>
            <a:ahLst/>
            <a:cxnLst/>
            <a:rect l="l" t="t" r="r" b="b"/>
            <a:pathLst>
              <a:path w="6398759" h="6840053">
                <a:moveTo>
                  <a:pt x="0" y="0"/>
                </a:moveTo>
                <a:lnTo>
                  <a:pt x="6398759" y="0"/>
                </a:lnTo>
                <a:lnTo>
                  <a:pt x="6398759" y="6840053"/>
                </a:lnTo>
                <a:lnTo>
                  <a:pt x="0" y="6840053"/>
                </a:lnTo>
                <a:lnTo>
                  <a:pt x="0" y="0"/>
                </a:lnTo>
                <a:close/>
              </a:path>
            </a:pathLst>
          </a:custGeom>
          <a:blipFill>
            <a:blip r:embed="rId5"/>
            <a:stretch>
              <a:fillRect/>
            </a:stretch>
          </a:blipFill>
        </p:spPr>
        <p:txBody>
          <a:bodyPr/>
          <a:lstStyle/>
          <a:p>
            <a:endParaRPr lang="en-IN"/>
          </a:p>
        </p:txBody>
      </p:sp>
      <p:sp>
        <p:nvSpPr>
          <p:cNvPr id="7" name="Freeform 7"/>
          <p:cNvSpPr/>
          <p:nvPr/>
        </p:nvSpPr>
        <p:spPr>
          <a:xfrm>
            <a:off x="1463663" y="4752118"/>
            <a:ext cx="7141347" cy="5534882"/>
          </a:xfrm>
          <a:custGeom>
            <a:avLst/>
            <a:gdLst/>
            <a:ahLst/>
            <a:cxnLst/>
            <a:rect l="l" t="t" r="r" b="b"/>
            <a:pathLst>
              <a:path w="7141347" h="5534882">
                <a:moveTo>
                  <a:pt x="0" y="0"/>
                </a:moveTo>
                <a:lnTo>
                  <a:pt x="7141347" y="0"/>
                </a:lnTo>
                <a:lnTo>
                  <a:pt x="7141347" y="5534882"/>
                </a:lnTo>
                <a:lnTo>
                  <a:pt x="0" y="5534882"/>
                </a:lnTo>
                <a:lnTo>
                  <a:pt x="0" y="0"/>
                </a:lnTo>
                <a:close/>
              </a:path>
            </a:pathLst>
          </a:custGeom>
          <a:blipFill>
            <a:blip r:embed="rId6"/>
            <a:stretch>
              <a:fillRect/>
            </a:stretch>
          </a:blipFill>
        </p:spPr>
        <p:txBody>
          <a:bodyPr/>
          <a:lstStyle/>
          <a:p>
            <a:endParaRPr lang="en-IN"/>
          </a:p>
        </p:txBody>
      </p:sp>
      <p:sp>
        <p:nvSpPr>
          <p:cNvPr id="8" name="TextBox 8"/>
          <p:cNvSpPr txBox="1"/>
          <p:nvPr/>
        </p:nvSpPr>
        <p:spPr>
          <a:xfrm>
            <a:off x="5323669" y="1323975"/>
            <a:ext cx="7640663" cy="920751"/>
          </a:xfrm>
          <a:prstGeom prst="rect">
            <a:avLst/>
          </a:prstGeom>
        </p:spPr>
        <p:txBody>
          <a:bodyPr lIns="0" tIns="0" rIns="0" bIns="0" rtlCol="0" anchor="t">
            <a:spAutoFit/>
          </a:bodyPr>
          <a:lstStyle/>
          <a:p>
            <a:pPr algn="ctr">
              <a:lnSpc>
                <a:spcPts val="6400"/>
              </a:lnSpc>
            </a:pPr>
            <a:r>
              <a:rPr lang="en-US" sz="8000" b="1">
                <a:solidFill>
                  <a:srgbClr val="252930"/>
                </a:solidFill>
                <a:latin typeface="Cabin Bold"/>
                <a:ea typeface="Cabin Bold"/>
                <a:cs typeface="Cabin Bold"/>
                <a:sym typeface="Cabin Bold"/>
              </a:rPr>
              <a:t>RESULT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028700" y="2387511"/>
            <a:ext cx="8219327" cy="3073400"/>
          </a:xfrm>
          <a:prstGeom prst="rect">
            <a:avLst/>
          </a:prstGeom>
        </p:spPr>
        <p:txBody>
          <a:bodyPr lIns="0" tIns="0" rIns="0" bIns="0" rtlCol="0" anchor="t">
            <a:spAutoFit/>
          </a:bodyPr>
          <a:lstStyle/>
          <a:p>
            <a:pPr algn="just">
              <a:lnSpc>
                <a:spcPts val="4899"/>
              </a:lnSpc>
            </a:pPr>
            <a:r>
              <a:rPr lang="en-US" sz="3499" b="1">
                <a:solidFill>
                  <a:srgbClr val="252930"/>
                </a:solidFill>
                <a:latin typeface="Cabin Bold"/>
                <a:ea typeface="Cabin Bold"/>
                <a:cs typeface="Cabin Bold"/>
                <a:sym typeface="Cabin Bold"/>
              </a:rPr>
              <a:t>Model 2: BERT (Deep Learning)</a:t>
            </a:r>
          </a:p>
          <a:p>
            <a:pPr marL="755647" lvl="1" indent="-377824" algn="l">
              <a:lnSpc>
                <a:spcPts val="4899"/>
              </a:lnSpc>
              <a:buFont typeface="Arial"/>
              <a:buChar char="•"/>
            </a:pPr>
            <a:r>
              <a:rPr lang="en-US" sz="3499">
                <a:solidFill>
                  <a:srgbClr val="252930"/>
                </a:solidFill>
                <a:latin typeface="Cabin"/>
                <a:ea typeface="Cabin"/>
                <a:cs typeface="Cabin"/>
                <a:sym typeface="Cabin"/>
              </a:rPr>
              <a:t>Achieved good accuracy </a:t>
            </a:r>
          </a:p>
          <a:p>
            <a:pPr marL="755647" lvl="1" indent="-377824" algn="l">
              <a:lnSpc>
                <a:spcPts val="4899"/>
              </a:lnSpc>
              <a:buFont typeface="Arial"/>
              <a:buChar char="•"/>
            </a:pPr>
            <a:r>
              <a:rPr lang="en-US" sz="3499">
                <a:solidFill>
                  <a:srgbClr val="252930"/>
                </a:solidFill>
                <a:latin typeface="Cabin"/>
                <a:ea typeface="Cabin"/>
                <a:cs typeface="Cabin"/>
                <a:sym typeface="Cabin"/>
              </a:rPr>
              <a:t>Understands bidirectional context</a:t>
            </a:r>
          </a:p>
          <a:p>
            <a:pPr marL="755647" lvl="1" indent="-377824" algn="l">
              <a:lnSpc>
                <a:spcPts val="4899"/>
              </a:lnSpc>
              <a:buFont typeface="Arial"/>
              <a:buChar char="•"/>
            </a:pPr>
            <a:r>
              <a:rPr lang="en-US" sz="3499">
                <a:solidFill>
                  <a:srgbClr val="252930"/>
                </a:solidFill>
                <a:latin typeface="Cabin"/>
                <a:ea typeface="Cabin"/>
                <a:cs typeface="Cabin"/>
                <a:sym typeface="Cabin"/>
              </a:rPr>
              <a:t>Performs well on contextual inputs</a:t>
            </a:r>
          </a:p>
          <a:p>
            <a:pPr algn="l">
              <a:lnSpc>
                <a:spcPts val="4899"/>
              </a:lnSpc>
            </a:pPr>
            <a:endParaRPr lang="en-US" sz="3499">
              <a:solidFill>
                <a:srgbClr val="252930"/>
              </a:solidFill>
              <a:latin typeface="Cabin"/>
              <a:ea typeface="Cabin"/>
              <a:cs typeface="Cabin"/>
              <a:sym typeface="Cabin"/>
            </a:endParaRPr>
          </a:p>
        </p:txBody>
      </p:sp>
      <p:sp>
        <p:nvSpPr>
          <p:cNvPr id="3" name="Freeform 3"/>
          <p:cNvSpPr/>
          <p:nvPr/>
        </p:nvSpPr>
        <p:spPr>
          <a:xfrm flipH="1">
            <a:off x="-202425"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5400000">
            <a:off x="15972490" y="900019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Freeform 6"/>
          <p:cNvSpPr/>
          <p:nvPr/>
        </p:nvSpPr>
        <p:spPr>
          <a:xfrm>
            <a:off x="11321605" y="2701066"/>
            <a:ext cx="6710155" cy="7163789"/>
          </a:xfrm>
          <a:custGeom>
            <a:avLst/>
            <a:gdLst/>
            <a:ahLst/>
            <a:cxnLst/>
            <a:rect l="l" t="t" r="r" b="b"/>
            <a:pathLst>
              <a:path w="6710155" h="7163789">
                <a:moveTo>
                  <a:pt x="0" y="0"/>
                </a:moveTo>
                <a:lnTo>
                  <a:pt x="6710155" y="0"/>
                </a:lnTo>
                <a:lnTo>
                  <a:pt x="6710155" y="7163789"/>
                </a:lnTo>
                <a:lnTo>
                  <a:pt x="0" y="7163789"/>
                </a:lnTo>
                <a:lnTo>
                  <a:pt x="0" y="0"/>
                </a:lnTo>
                <a:close/>
              </a:path>
            </a:pathLst>
          </a:custGeom>
          <a:blipFill>
            <a:blip r:embed="rId5"/>
            <a:stretch>
              <a:fillRect t="-239" b="-239"/>
            </a:stretch>
          </a:blipFill>
        </p:spPr>
        <p:txBody>
          <a:bodyPr/>
          <a:lstStyle/>
          <a:p>
            <a:endParaRPr lang="en-IN"/>
          </a:p>
        </p:txBody>
      </p:sp>
      <p:sp>
        <p:nvSpPr>
          <p:cNvPr id="7" name="Freeform 7"/>
          <p:cNvSpPr/>
          <p:nvPr/>
        </p:nvSpPr>
        <p:spPr>
          <a:xfrm>
            <a:off x="1692712" y="5143500"/>
            <a:ext cx="7261914" cy="5537378"/>
          </a:xfrm>
          <a:custGeom>
            <a:avLst/>
            <a:gdLst/>
            <a:ahLst/>
            <a:cxnLst/>
            <a:rect l="l" t="t" r="r" b="b"/>
            <a:pathLst>
              <a:path w="7261914" h="5537378">
                <a:moveTo>
                  <a:pt x="0" y="0"/>
                </a:moveTo>
                <a:lnTo>
                  <a:pt x="7261914" y="0"/>
                </a:lnTo>
                <a:lnTo>
                  <a:pt x="7261914" y="5537378"/>
                </a:lnTo>
                <a:lnTo>
                  <a:pt x="0" y="5537378"/>
                </a:lnTo>
                <a:lnTo>
                  <a:pt x="0" y="0"/>
                </a:lnTo>
                <a:close/>
              </a:path>
            </a:pathLst>
          </a:custGeom>
          <a:blipFill>
            <a:blip r:embed="rId6"/>
            <a:stretch>
              <a:fillRect/>
            </a:stretch>
          </a:blipFill>
        </p:spPr>
        <p:txBody>
          <a:bodyPr/>
          <a:lstStyle/>
          <a:p>
            <a:endParaRPr lang="en-IN"/>
          </a:p>
        </p:txBody>
      </p:sp>
      <p:sp>
        <p:nvSpPr>
          <p:cNvPr id="8" name="TextBox 8"/>
          <p:cNvSpPr txBox="1"/>
          <p:nvPr/>
        </p:nvSpPr>
        <p:spPr>
          <a:xfrm>
            <a:off x="5323669" y="1639887"/>
            <a:ext cx="7640663" cy="920751"/>
          </a:xfrm>
          <a:prstGeom prst="rect">
            <a:avLst/>
          </a:prstGeom>
        </p:spPr>
        <p:txBody>
          <a:bodyPr lIns="0" tIns="0" rIns="0" bIns="0" rtlCol="0" anchor="t">
            <a:spAutoFit/>
          </a:bodyPr>
          <a:lstStyle/>
          <a:p>
            <a:pPr algn="ctr">
              <a:lnSpc>
                <a:spcPts val="6400"/>
              </a:lnSpc>
            </a:pPr>
            <a:r>
              <a:rPr lang="en-US" sz="8000" b="1">
                <a:solidFill>
                  <a:srgbClr val="252930"/>
                </a:solidFill>
                <a:latin typeface="Cabin Bold"/>
                <a:ea typeface="Cabin Bold"/>
                <a:cs typeface="Cabin Bold"/>
                <a:sym typeface="Cabin Bold"/>
              </a:rPr>
              <a:t>RESULT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364749" y="2140329"/>
            <a:ext cx="12571829" cy="3672716"/>
          </a:xfrm>
          <a:prstGeom prst="rect">
            <a:avLst/>
          </a:prstGeom>
        </p:spPr>
        <p:txBody>
          <a:bodyPr lIns="0" tIns="0" rIns="0" bIns="0" rtlCol="0" anchor="t">
            <a:spAutoFit/>
          </a:bodyPr>
          <a:lstStyle/>
          <a:p>
            <a:pPr algn="just">
              <a:lnSpc>
                <a:spcPts val="3934"/>
              </a:lnSpc>
            </a:pPr>
            <a:r>
              <a:rPr lang="en-US" sz="2810" b="1">
                <a:solidFill>
                  <a:srgbClr val="252930"/>
                </a:solidFill>
                <a:latin typeface="Maven Pro Bold"/>
                <a:ea typeface="Maven Pro Bold"/>
                <a:cs typeface="Maven Pro Bold"/>
                <a:sym typeface="Maven Pro Bold"/>
              </a:rPr>
              <a:t>Model3: RoBERTa Model</a:t>
            </a:r>
          </a:p>
          <a:p>
            <a:pPr marL="551533" lvl="1" indent="-275766" algn="just">
              <a:lnSpc>
                <a:spcPts val="3576"/>
              </a:lnSpc>
              <a:buFont typeface="Arial"/>
              <a:buChar char="•"/>
            </a:pPr>
            <a:r>
              <a:rPr lang="en-US" sz="2554">
                <a:solidFill>
                  <a:srgbClr val="252930"/>
                </a:solidFill>
                <a:latin typeface="Maven Pro"/>
                <a:ea typeface="Maven Pro"/>
                <a:cs typeface="Maven Pro"/>
                <a:sym typeface="Maven Pro"/>
              </a:rPr>
              <a:t>Achieved highest accuracy among all models (~90%+)</a:t>
            </a:r>
          </a:p>
          <a:p>
            <a:pPr marL="551533" lvl="1" indent="-275766" algn="just">
              <a:lnSpc>
                <a:spcPts val="3576"/>
              </a:lnSpc>
              <a:buFont typeface="Arial"/>
              <a:buChar char="•"/>
            </a:pPr>
            <a:r>
              <a:rPr lang="en-US" sz="2554">
                <a:solidFill>
                  <a:srgbClr val="252930"/>
                </a:solidFill>
                <a:latin typeface="Maven Pro"/>
                <a:ea typeface="Maven Pro"/>
                <a:cs typeface="Maven Pro"/>
                <a:sym typeface="Maven Pro"/>
              </a:rPr>
              <a:t>Effectively captures contextual and semantic meaning</a:t>
            </a:r>
          </a:p>
          <a:p>
            <a:pPr marL="551533" lvl="1" indent="-275766" algn="just">
              <a:lnSpc>
                <a:spcPts val="3576"/>
              </a:lnSpc>
              <a:buFont typeface="Arial"/>
              <a:buChar char="•"/>
            </a:pPr>
            <a:r>
              <a:rPr lang="en-US" sz="2554">
                <a:solidFill>
                  <a:srgbClr val="252930"/>
                </a:solidFill>
                <a:latin typeface="Maven Pro"/>
                <a:ea typeface="Maven Pro"/>
                <a:cs typeface="Maven Pro"/>
                <a:sym typeface="Maven Pro"/>
              </a:rPr>
              <a:t>Performs well on:</a:t>
            </a:r>
          </a:p>
          <a:p>
            <a:pPr marL="1103065" lvl="2" indent="-367688" algn="just">
              <a:lnSpc>
                <a:spcPts val="3576"/>
              </a:lnSpc>
              <a:buFont typeface="Arial"/>
              <a:buChar char="⚬"/>
            </a:pPr>
            <a:r>
              <a:rPr lang="en-US" sz="2554">
                <a:solidFill>
                  <a:srgbClr val="252930"/>
                </a:solidFill>
                <a:latin typeface="Maven Pro"/>
                <a:ea typeface="Maven Pro"/>
                <a:cs typeface="Maven Pro"/>
                <a:sym typeface="Maven Pro"/>
              </a:rPr>
              <a:t>Emotion shifts</a:t>
            </a:r>
          </a:p>
          <a:p>
            <a:pPr marL="1103065" lvl="2" indent="-367688" algn="just">
              <a:lnSpc>
                <a:spcPts val="3576"/>
              </a:lnSpc>
              <a:buFont typeface="Arial"/>
              <a:buChar char="⚬"/>
            </a:pPr>
            <a:r>
              <a:rPr lang="en-US" sz="2554">
                <a:solidFill>
                  <a:srgbClr val="252930"/>
                </a:solidFill>
                <a:latin typeface="Maven Pro"/>
                <a:ea typeface="Maven Pro"/>
                <a:cs typeface="Maven Pro"/>
                <a:sym typeface="Maven Pro"/>
              </a:rPr>
              <a:t>Ambiguous sentences</a:t>
            </a:r>
          </a:p>
          <a:p>
            <a:pPr marL="1103065" lvl="2" indent="-367688" algn="just">
              <a:lnSpc>
                <a:spcPts val="3576"/>
              </a:lnSpc>
              <a:buFont typeface="Arial"/>
              <a:buChar char="⚬"/>
            </a:pPr>
            <a:r>
              <a:rPr lang="en-US" sz="2554">
                <a:solidFill>
                  <a:srgbClr val="252930"/>
                </a:solidFill>
                <a:latin typeface="Maven Pro"/>
                <a:ea typeface="Maven Pro"/>
                <a:cs typeface="Maven Pro"/>
                <a:sym typeface="Maven Pro"/>
              </a:rPr>
              <a:t>Conversation-based inputs</a:t>
            </a:r>
          </a:p>
          <a:p>
            <a:pPr algn="just">
              <a:lnSpc>
                <a:spcPts val="3576"/>
              </a:lnSpc>
            </a:pPr>
            <a:endParaRPr lang="en-US" sz="2554">
              <a:solidFill>
                <a:srgbClr val="252930"/>
              </a:solidFill>
              <a:latin typeface="Maven Pro"/>
              <a:ea typeface="Maven Pro"/>
              <a:cs typeface="Maven Pro"/>
              <a:sym typeface="Maven Pro"/>
            </a:endParaRPr>
          </a:p>
        </p:txBody>
      </p:sp>
      <p:sp>
        <p:nvSpPr>
          <p:cNvPr id="3" name="TextBox 3"/>
          <p:cNvSpPr txBox="1"/>
          <p:nvPr/>
        </p:nvSpPr>
        <p:spPr>
          <a:xfrm>
            <a:off x="2999625" y="1352550"/>
            <a:ext cx="12288749" cy="1047750"/>
          </a:xfrm>
          <a:prstGeom prst="rect">
            <a:avLst/>
          </a:prstGeom>
        </p:spPr>
        <p:txBody>
          <a:bodyPr lIns="0" tIns="0" rIns="0" bIns="0" rtlCol="0" anchor="t">
            <a:spAutoFit/>
          </a:bodyPr>
          <a:lstStyle/>
          <a:p>
            <a:pPr algn="ctr">
              <a:lnSpc>
                <a:spcPts val="7200"/>
              </a:lnSpc>
            </a:pPr>
            <a:r>
              <a:rPr lang="en-US" sz="9000" b="1">
                <a:solidFill>
                  <a:srgbClr val="252930"/>
                </a:solidFill>
                <a:latin typeface="Maven Pro Bold"/>
                <a:ea typeface="Maven Pro Bold"/>
                <a:cs typeface="Maven Pro Bold"/>
                <a:sym typeface="Maven Pro Bold"/>
              </a:rPr>
              <a:t>RESULT</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2730262" y="3674665"/>
            <a:ext cx="5301498" cy="5918772"/>
          </a:xfrm>
          <a:custGeom>
            <a:avLst/>
            <a:gdLst/>
            <a:ahLst/>
            <a:cxnLst/>
            <a:rect l="l" t="t" r="r" b="b"/>
            <a:pathLst>
              <a:path w="5301498" h="5918772">
                <a:moveTo>
                  <a:pt x="0" y="0"/>
                </a:moveTo>
                <a:lnTo>
                  <a:pt x="5301498" y="0"/>
                </a:lnTo>
                <a:lnTo>
                  <a:pt x="5301498" y="5918772"/>
                </a:lnTo>
                <a:lnTo>
                  <a:pt x="0" y="5918772"/>
                </a:lnTo>
                <a:lnTo>
                  <a:pt x="0" y="0"/>
                </a:lnTo>
                <a:close/>
              </a:path>
            </a:pathLst>
          </a:custGeom>
          <a:blipFill>
            <a:blip r:embed="rId4"/>
            <a:stretch>
              <a:fillRect r="-7414"/>
            </a:stretch>
          </a:blipFill>
        </p:spPr>
        <p:txBody>
          <a:bodyPr/>
          <a:lstStyle/>
          <a:p>
            <a:endParaRPr lang="en-IN"/>
          </a:p>
        </p:txBody>
      </p:sp>
      <p:sp>
        <p:nvSpPr>
          <p:cNvPr id="7" name="Freeform 7"/>
          <p:cNvSpPr/>
          <p:nvPr/>
        </p:nvSpPr>
        <p:spPr>
          <a:xfrm>
            <a:off x="1364749" y="4953032"/>
            <a:ext cx="6926068" cy="5318642"/>
          </a:xfrm>
          <a:custGeom>
            <a:avLst/>
            <a:gdLst/>
            <a:ahLst/>
            <a:cxnLst/>
            <a:rect l="l" t="t" r="r" b="b"/>
            <a:pathLst>
              <a:path w="6926068" h="5318642">
                <a:moveTo>
                  <a:pt x="0" y="0"/>
                </a:moveTo>
                <a:lnTo>
                  <a:pt x="6926069" y="0"/>
                </a:lnTo>
                <a:lnTo>
                  <a:pt x="6926069" y="5318643"/>
                </a:lnTo>
                <a:lnTo>
                  <a:pt x="0" y="5318643"/>
                </a:lnTo>
                <a:lnTo>
                  <a:pt x="0" y="0"/>
                </a:lnTo>
                <a:close/>
              </a:path>
            </a:pathLst>
          </a:custGeom>
          <a:blipFill>
            <a:blip r:embed="rId5"/>
            <a:stretch>
              <a:fillRect t="-1890" b="-1890"/>
            </a:stretch>
          </a:blipFill>
        </p:spPr>
        <p:txBody>
          <a:bodyPr/>
          <a:lstStyle/>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028700" y="2371725"/>
            <a:ext cx="8219327" cy="1146175"/>
          </a:xfrm>
          <a:prstGeom prst="rect">
            <a:avLst/>
          </a:prstGeom>
        </p:spPr>
        <p:txBody>
          <a:bodyPr lIns="0" tIns="0" rIns="0" bIns="0" rtlCol="0" anchor="t">
            <a:spAutoFit/>
          </a:bodyPr>
          <a:lstStyle/>
          <a:p>
            <a:pPr marL="755647" lvl="1" indent="-377824" algn="l">
              <a:lnSpc>
                <a:spcPts val="4899"/>
              </a:lnSpc>
              <a:buAutoNum type="arabicPeriod"/>
            </a:pPr>
            <a:r>
              <a:rPr lang="en-US" sz="3499">
                <a:solidFill>
                  <a:srgbClr val="252930"/>
                </a:solidFill>
                <a:latin typeface="Maven Pro"/>
                <a:ea typeface="Maven Pro"/>
                <a:cs typeface="Maven Pro"/>
                <a:sym typeface="Maven Pro"/>
              </a:rPr>
              <a:t> </a:t>
            </a:r>
            <a:r>
              <a:rPr lang="en-US" sz="3499" b="1">
                <a:solidFill>
                  <a:srgbClr val="252930"/>
                </a:solidFill>
                <a:latin typeface="Maven Pro Bold"/>
                <a:ea typeface="Maven Pro Bold"/>
                <a:cs typeface="Maven Pro Bold"/>
                <a:sym typeface="Maven Pro Bold"/>
              </a:rPr>
              <a:t>Single Text:</a:t>
            </a:r>
          </a:p>
          <a:p>
            <a:pPr algn="just">
              <a:lnSpc>
                <a:spcPts val="4200"/>
              </a:lnSpc>
            </a:pPr>
            <a:endParaRPr lang="en-US" sz="3499" b="1">
              <a:solidFill>
                <a:srgbClr val="252930"/>
              </a:solidFill>
              <a:latin typeface="Maven Pro Bold"/>
              <a:ea typeface="Maven Pro Bold"/>
              <a:cs typeface="Maven Pro Bold"/>
              <a:sym typeface="Maven Pro Bold"/>
            </a:endParaRPr>
          </a:p>
        </p:txBody>
      </p:sp>
      <p:sp>
        <p:nvSpPr>
          <p:cNvPr id="3" name="TextBox 3"/>
          <p:cNvSpPr txBox="1"/>
          <p:nvPr/>
        </p:nvSpPr>
        <p:spPr>
          <a:xfrm>
            <a:off x="3295519" y="781045"/>
            <a:ext cx="10927840" cy="704860"/>
          </a:xfrm>
          <a:prstGeom prst="rect">
            <a:avLst/>
          </a:prstGeom>
        </p:spPr>
        <p:txBody>
          <a:bodyPr lIns="0" tIns="0" rIns="0" bIns="0" rtlCol="0" anchor="t">
            <a:spAutoFit/>
          </a:bodyPr>
          <a:lstStyle/>
          <a:p>
            <a:pPr algn="ctr">
              <a:lnSpc>
                <a:spcPts val="4800"/>
              </a:lnSpc>
            </a:pPr>
            <a:r>
              <a:rPr lang="en-US" sz="6000" b="1">
                <a:solidFill>
                  <a:srgbClr val="252930"/>
                </a:solidFill>
                <a:latin typeface="Maven Pro Bold"/>
                <a:ea typeface="Maven Pro Bold"/>
                <a:cs typeface="Maven Pro Bold"/>
                <a:sym typeface="Maven Pro Bold"/>
              </a:rPr>
              <a:t>WEB APPLICATION</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rot="5400000">
            <a:off x="15972490" y="900019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Freeform 7"/>
          <p:cNvSpPr/>
          <p:nvPr/>
        </p:nvSpPr>
        <p:spPr>
          <a:xfrm>
            <a:off x="256651" y="3303380"/>
            <a:ext cx="11258998" cy="5743801"/>
          </a:xfrm>
          <a:custGeom>
            <a:avLst/>
            <a:gdLst/>
            <a:ahLst/>
            <a:cxnLst/>
            <a:rect l="l" t="t" r="r" b="b"/>
            <a:pathLst>
              <a:path w="11258998" h="5743801">
                <a:moveTo>
                  <a:pt x="0" y="0"/>
                </a:moveTo>
                <a:lnTo>
                  <a:pt x="11258998" y="0"/>
                </a:lnTo>
                <a:lnTo>
                  <a:pt x="11258998" y="5743801"/>
                </a:lnTo>
                <a:lnTo>
                  <a:pt x="0" y="5743801"/>
                </a:lnTo>
                <a:lnTo>
                  <a:pt x="0" y="0"/>
                </a:lnTo>
                <a:close/>
              </a:path>
            </a:pathLst>
          </a:custGeom>
          <a:blipFill>
            <a:blip r:embed="rId5"/>
            <a:stretch>
              <a:fillRect r="-7400"/>
            </a:stretch>
          </a:blipFill>
        </p:spPr>
        <p:txBody>
          <a:bodyPr/>
          <a:lstStyle/>
          <a:p>
            <a:endParaRPr lang="en-IN"/>
          </a:p>
        </p:txBody>
      </p:sp>
      <p:sp>
        <p:nvSpPr>
          <p:cNvPr id="8" name="Freeform 8"/>
          <p:cNvSpPr/>
          <p:nvPr/>
        </p:nvSpPr>
        <p:spPr>
          <a:xfrm>
            <a:off x="11783216" y="1391569"/>
            <a:ext cx="6504784" cy="8895431"/>
          </a:xfrm>
          <a:custGeom>
            <a:avLst/>
            <a:gdLst/>
            <a:ahLst/>
            <a:cxnLst/>
            <a:rect l="l" t="t" r="r" b="b"/>
            <a:pathLst>
              <a:path w="6504784" h="8895431">
                <a:moveTo>
                  <a:pt x="0" y="0"/>
                </a:moveTo>
                <a:lnTo>
                  <a:pt x="6504784" y="0"/>
                </a:lnTo>
                <a:lnTo>
                  <a:pt x="6504784" y="8895431"/>
                </a:lnTo>
                <a:lnTo>
                  <a:pt x="0" y="8895431"/>
                </a:lnTo>
                <a:lnTo>
                  <a:pt x="0" y="0"/>
                </a:lnTo>
                <a:close/>
              </a:path>
            </a:pathLst>
          </a:custGeom>
          <a:blipFill>
            <a:blip r:embed="rId6"/>
            <a:stretch>
              <a:fillRect/>
            </a:stretch>
          </a:blipFill>
        </p:spPr>
        <p:txBody>
          <a:bodyPr/>
          <a:lstStyle/>
          <a:p>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556445" y="2192136"/>
            <a:ext cx="3707077" cy="589915"/>
          </a:xfrm>
          <a:prstGeom prst="rect">
            <a:avLst/>
          </a:prstGeom>
        </p:spPr>
        <p:txBody>
          <a:bodyPr lIns="0" tIns="0" rIns="0" bIns="0" rtlCol="0" anchor="t">
            <a:spAutoFit/>
          </a:bodyPr>
          <a:lstStyle/>
          <a:p>
            <a:pPr marL="734059" lvl="1" indent="-367030" algn="l">
              <a:lnSpc>
                <a:spcPts val="4759"/>
              </a:lnSpc>
              <a:buAutoNum type="arabicPeriod"/>
            </a:pPr>
            <a:r>
              <a:rPr lang="en-US" sz="3399" b="1">
                <a:solidFill>
                  <a:srgbClr val="252930"/>
                </a:solidFill>
                <a:latin typeface="Maven Pro Bold"/>
                <a:ea typeface="Maven Pro Bold"/>
                <a:cs typeface="Maven Pro Bold"/>
                <a:sym typeface="Maven Pro Bold"/>
              </a:rPr>
              <a:t>Contextual </a:t>
            </a:r>
          </a:p>
        </p:txBody>
      </p:sp>
      <p:sp>
        <p:nvSpPr>
          <p:cNvPr id="3" name="TextBox 3"/>
          <p:cNvSpPr txBox="1"/>
          <p:nvPr/>
        </p:nvSpPr>
        <p:spPr>
          <a:xfrm>
            <a:off x="684853" y="1144365"/>
            <a:ext cx="12288749" cy="704871"/>
          </a:xfrm>
          <a:prstGeom prst="rect">
            <a:avLst/>
          </a:prstGeom>
        </p:spPr>
        <p:txBody>
          <a:bodyPr lIns="0" tIns="0" rIns="0" bIns="0" rtlCol="0" anchor="t">
            <a:spAutoFit/>
          </a:bodyPr>
          <a:lstStyle/>
          <a:p>
            <a:pPr algn="ctr">
              <a:lnSpc>
                <a:spcPts val="4800"/>
              </a:lnSpc>
            </a:pPr>
            <a:r>
              <a:rPr lang="en-US" sz="6000" b="1">
                <a:solidFill>
                  <a:srgbClr val="252930"/>
                </a:solidFill>
                <a:latin typeface="Maven Pro Bold"/>
                <a:ea typeface="Maven Pro Bold"/>
                <a:cs typeface="Maven Pro Bold"/>
                <a:sym typeface="Maven Pro Bold"/>
              </a:rPr>
              <a:t>WEB APPLICATION </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Freeform 7"/>
          <p:cNvSpPr/>
          <p:nvPr/>
        </p:nvSpPr>
        <p:spPr>
          <a:xfrm>
            <a:off x="335008" y="3196495"/>
            <a:ext cx="9576160" cy="6775133"/>
          </a:xfrm>
          <a:custGeom>
            <a:avLst/>
            <a:gdLst/>
            <a:ahLst/>
            <a:cxnLst/>
            <a:rect l="l" t="t" r="r" b="b"/>
            <a:pathLst>
              <a:path w="9576160" h="6775133">
                <a:moveTo>
                  <a:pt x="0" y="0"/>
                </a:moveTo>
                <a:lnTo>
                  <a:pt x="9576160" y="0"/>
                </a:lnTo>
                <a:lnTo>
                  <a:pt x="9576160" y="6775133"/>
                </a:lnTo>
                <a:lnTo>
                  <a:pt x="0" y="6775133"/>
                </a:lnTo>
                <a:lnTo>
                  <a:pt x="0" y="0"/>
                </a:lnTo>
                <a:close/>
              </a:path>
            </a:pathLst>
          </a:custGeom>
          <a:blipFill>
            <a:blip r:embed="rId5"/>
            <a:stretch>
              <a:fillRect/>
            </a:stretch>
          </a:blipFill>
        </p:spPr>
        <p:txBody>
          <a:bodyPr/>
          <a:lstStyle/>
          <a:p>
            <a:endParaRPr lang="en-IN"/>
          </a:p>
        </p:txBody>
      </p:sp>
      <p:sp>
        <p:nvSpPr>
          <p:cNvPr id="8" name="Freeform 8"/>
          <p:cNvSpPr/>
          <p:nvPr/>
        </p:nvSpPr>
        <p:spPr>
          <a:xfrm>
            <a:off x="10253242" y="1028700"/>
            <a:ext cx="8253770" cy="9406767"/>
          </a:xfrm>
          <a:custGeom>
            <a:avLst/>
            <a:gdLst/>
            <a:ahLst/>
            <a:cxnLst/>
            <a:rect l="l" t="t" r="r" b="b"/>
            <a:pathLst>
              <a:path w="8253770" h="9406767">
                <a:moveTo>
                  <a:pt x="0" y="0"/>
                </a:moveTo>
                <a:lnTo>
                  <a:pt x="8253770" y="0"/>
                </a:lnTo>
                <a:lnTo>
                  <a:pt x="8253770" y="9406767"/>
                </a:lnTo>
                <a:lnTo>
                  <a:pt x="0" y="9406767"/>
                </a:lnTo>
                <a:lnTo>
                  <a:pt x="0" y="0"/>
                </a:lnTo>
                <a:close/>
              </a:path>
            </a:pathLst>
          </a:custGeom>
          <a:blipFill>
            <a:blip r:embed="rId6"/>
            <a:stretch>
              <a:fillRect/>
            </a:stretch>
          </a:blipFill>
        </p:spPr>
        <p:txBody>
          <a:bodyPr/>
          <a:lstStyle/>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547915" y="1876425"/>
            <a:ext cx="13297277" cy="589915"/>
          </a:xfrm>
          <a:prstGeom prst="rect">
            <a:avLst/>
          </a:prstGeom>
        </p:spPr>
        <p:txBody>
          <a:bodyPr lIns="0" tIns="0" rIns="0" bIns="0" rtlCol="0" anchor="t">
            <a:spAutoFit/>
          </a:bodyPr>
          <a:lstStyle/>
          <a:p>
            <a:pPr marL="734059" lvl="1" indent="-367030" algn="l">
              <a:lnSpc>
                <a:spcPts val="4759"/>
              </a:lnSpc>
              <a:buAutoNum type="arabicPeriod"/>
            </a:pPr>
            <a:r>
              <a:rPr lang="en-US" sz="3399" b="1">
                <a:solidFill>
                  <a:srgbClr val="252930"/>
                </a:solidFill>
                <a:latin typeface="Maven Pro Bold"/>
                <a:ea typeface="Maven Pro Bold"/>
                <a:cs typeface="Maven Pro Bold"/>
                <a:sym typeface="Maven Pro Bold"/>
              </a:rPr>
              <a:t>Conversation History</a:t>
            </a:r>
          </a:p>
        </p:txBody>
      </p:sp>
      <p:sp>
        <p:nvSpPr>
          <p:cNvPr id="3" name="TextBox 3"/>
          <p:cNvSpPr txBox="1"/>
          <p:nvPr/>
        </p:nvSpPr>
        <p:spPr>
          <a:xfrm>
            <a:off x="1028700" y="1003784"/>
            <a:ext cx="12288749" cy="704871"/>
          </a:xfrm>
          <a:prstGeom prst="rect">
            <a:avLst/>
          </a:prstGeom>
        </p:spPr>
        <p:txBody>
          <a:bodyPr lIns="0" tIns="0" rIns="0" bIns="0" rtlCol="0" anchor="t">
            <a:spAutoFit/>
          </a:bodyPr>
          <a:lstStyle/>
          <a:p>
            <a:pPr algn="ctr">
              <a:lnSpc>
                <a:spcPts val="4800"/>
              </a:lnSpc>
            </a:pPr>
            <a:r>
              <a:rPr lang="en-US" sz="6000" b="1">
                <a:solidFill>
                  <a:srgbClr val="252930"/>
                </a:solidFill>
                <a:latin typeface="Maven Pro Bold"/>
                <a:ea typeface="Maven Pro Bold"/>
                <a:cs typeface="Maven Pro Bold"/>
                <a:sym typeface="Maven Pro Bold"/>
              </a:rPr>
              <a:t>WEB APPLICATION </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Freeform 7"/>
          <p:cNvSpPr/>
          <p:nvPr/>
        </p:nvSpPr>
        <p:spPr>
          <a:xfrm>
            <a:off x="263848" y="2713990"/>
            <a:ext cx="9843590" cy="7153627"/>
          </a:xfrm>
          <a:custGeom>
            <a:avLst/>
            <a:gdLst/>
            <a:ahLst/>
            <a:cxnLst/>
            <a:rect l="l" t="t" r="r" b="b"/>
            <a:pathLst>
              <a:path w="9843590" h="7153627">
                <a:moveTo>
                  <a:pt x="0" y="0"/>
                </a:moveTo>
                <a:lnTo>
                  <a:pt x="9843589" y="0"/>
                </a:lnTo>
                <a:lnTo>
                  <a:pt x="9843589" y="7153627"/>
                </a:lnTo>
                <a:lnTo>
                  <a:pt x="0" y="7153627"/>
                </a:lnTo>
                <a:lnTo>
                  <a:pt x="0" y="0"/>
                </a:lnTo>
                <a:close/>
              </a:path>
            </a:pathLst>
          </a:custGeom>
          <a:blipFill>
            <a:blip r:embed="rId5"/>
            <a:stretch>
              <a:fillRect t="-1601" b="-1601"/>
            </a:stretch>
          </a:blipFill>
        </p:spPr>
        <p:txBody>
          <a:bodyPr/>
          <a:lstStyle/>
          <a:p>
            <a:endParaRPr lang="en-IN"/>
          </a:p>
        </p:txBody>
      </p:sp>
      <p:sp>
        <p:nvSpPr>
          <p:cNvPr id="8" name="Freeform 8"/>
          <p:cNvSpPr/>
          <p:nvPr/>
        </p:nvSpPr>
        <p:spPr>
          <a:xfrm>
            <a:off x="10447974" y="1952625"/>
            <a:ext cx="8794435" cy="7914992"/>
          </a:xfrm>
          <a:custGeom>
            <a:avLst/>
            <a:gdLst/>
            <a:ahLst/>
            <a:cxnLst/>
            <a:rect l="l" t="t" r="r" b="b"/>
            <a:pathLst>
              <a:path w="8794435" h="7914992">
                <a:moveTo>
                  <a:pt x="0" y="0"/>
                </a:moveTo>
                <a:lnTo>
                  <a:pt x="8794436" y="0"/>
                </a:lnTo>
                <a:lnTo>
                  <a:pt x="8794436" y="7914992"/>
                </a:lnTo>
                <a:lnTo>
                  <a:pt x="0" y="7914992"/>
                </a:lnTo>
                <a:lnTo>
                  <a:pt x="0" y="0"/>
                </a:lnTo>
                <a:close/>
              </a:path>
            </a:pathLst>
          </a:custGeom>
          <a:blipFill>
            <a:blip r:embed="rId6"/>
            <a:stretch>
              <a:fillRect/>
            </a:stretch>
          </a:blipFill>
        </p:spPr>
        <p:txBody>
          <a:bodyPr/>
          <a:lstStyle/>
          <a:p>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495361" y="4219402"/>
            <a:ext cx="13297277" cy="3400290"/>
          </a:xfrm>
          <a:prstGeom prst="rect">
            <a:avLst/>
          </a:prstGeom>
        </p:spPr>
        <p:txBody>
          <a:bodyPr lIns="0" tIns="0" rIns="0" bIns="0" rtlCol="0" anchor="t">
            <a:spAutoFit/>
          </a:bodyPr>
          <a:lstStyle/>
          <a:p>
            <a:pPr marL="820417" lvl="1" indent="-410209" algn="just">
              <a:lnSpc>
                <a:spcPts val="5319"/>
              </a:lnSpc>
              <a:buFont typeface="Arial"/>
              <a:buChar char="•"/>
            </a:pPr>
            <a:r>
              <a:rPr lang="en-US" sz="3799" dirty="0">
                <a:solidFill>
                  <a:srgbClr val="252930"/>
                </a:solidFill>
                <a:latin typeface="Maven Pro"/>
                <a:ea typeface="Maven Pro"/>
                <a:cs typeface="Maven Pro"/>
                <a:sym typeface="Maven Pro"/>
              </a:rPr>
              <a:t>Add multilingual emotion detection</a:t>
            </a:r>
          </a:p>
          <a:p>
            <a:pPr marL="820417" lvl="1" indent="-410209" algn="just">
              <a:lnSpc>
                <a:spcPts val="5319"/>
              </a:lnSpc>
              <a:buFont typeface="Arial"/>
              <a:buChar char="•"/>
            </a:pPr>
            <a:r>
              <a:rPr lang="en-US" sz="3799" dirty="0">
                <a:solidFill>
                  <a:srgbClr val="252930"/>
                </a:solidFill>
                <a:latin typeface="Maven Pro"/>
                <a:ea typeface="Maven Pro"/>
                <a:cs typeface="Maven Pro"/>
                <a:sym typeface="Maven Pro"/>
              </a:rPr>
              <a:t>Integrate real-time social media data</a:t>
            </a:r>
          </a:p>
          <a:p>
            <a:pPr marL="820417" lvl="1" indent="-410209" algn="just">
              <a:lnSpc>
                <a:spcPts val="5319"/>
              </a:lnSpc>
              <a:buFont typeface="Arial"/>
              <a:buChar char="•"/>
            </a:pPr>
            <a:r>
              <a:rPr lang="en-US" sz="3799" dirty="0">
                <a:solidFill>
                  <a:srgbClr val="252930"/>
                </a:solidFill>
                <a:latin typeface="Maven Pro"/>
                <a:ea typeface="Maven Pro"/>
                <a:cs typeface="Maven Pro"/>
                <a:sym typeface="Maven Pro"/>
              </a:rPr>
              <a:t>Improve UI/UX</a:t>
            </a:r>
          </a:p>
          <a:p>
            <a:pPr marL="820417" lvl="1" indent="-410209" algn="just">
              <a:lnSpc>
                <a:spcPts val="5319"/>
              </a:lnSpc>
              <a:buFont typeface="Arial"/>
              <a:buChar char="•"/>
            </a:pPr>
            <a:r>
              <a:rPr lang="en-US" sz="3799" dirty="0">
                <a:solidFill>
                  <a:srgbClr val="252930"/>
                </a:solidFill>
                <a:latin typeface="Maven Pro"/>
                <a:ea typeface="Maven Pro"/>
                <a:cs typeface="Maven Pro"/>
                <a:sym typeface="Maven Pro"/>
              </a:rPr>
              <a:t>Use advanced models for better accuracy</a:t>
            </a:r>
          </a:p>
          <a:p>
            <a:pPr algn="just">
              <a:lnSpc>
                <a:spcPts val="6019"/>
              </a:lnSpc>
            </a:pPr>
            <a:endParaRPr lang="en-US" sz="3799" dirty="0">
              <a:solidFill>
                <a:srgbClr val="252930"/>
              </a:solidFill>
              <a:latin typeface="Maven Pro"/>
              <a:ea typeface="Maven Pro"/>
              <a:cs typeface="Maven Pro"/>
              <a:sym typeface="Maven Pro"/>
            </a:endParaRPr>
          </a:p>
        </p:txBody>
      </p:sp>
      <p:sp>
        <p:nvSpPr>
          <p:cNvPr id="3" name="TextBox 3"/>
          <p:cNvSpPr txBox="1"/>
          <p:nvPr/>
        </p:nvSpPr>
        <p:spPr>
          <a:xfrm>
            <a:off x="2999625" y="2095429"/>
            <a:ext cx="12288749" cy="1047750"/>
          </a:xfrm>
          <a:prstGeom prst="rect">
            <a:avLst/>
          </a:prstGeom>
        </p:spPr>
        <p:txBody>
          <a:bodyPr lIns="0" tIns="0" rIns="0" bIns="0" rtlCol="0" anchor="t">
            <a:spAutoFit/>
          </a:bodyPr>
          <a:lstStyle/>
          <a:p>
            <a:pPr algn="ctr">
              <a:lnSpc>
                <a:spcPts val="7200"/>
              </a:lnSpc>
            </a:pPr>
            <a:r>
              <a:rPr lang="en-US" sz="9000" b="1">
                <a:solidFill>
                  <a:srgbClr val="252930"/>
                </a:solidFill>
                <a:latin typeface="Maven Pro Bold"/>
                <a:ea typeface="Maven Pro Bold"/>
                <a:cs typeface="Maven Pro Bold"/>
                <a:sym typeface="Maven Pro Bold"/>
              </a:rPr>
              <a:t>FUTURE WORK</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Freeform 2"/>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5145692" y="1899121"/>
            <a:ext cx="8865010" cy="917406"/>
          </a:xfrm>
          <a:prstGeom prst="rect">
            <a:avLst/>
          </a:prstGeom>
        </p:spPr>
        <p:txBody>
          <a:bodyPr lIns="0" tIns="0" rIns="0" bIns="0" rtlCol="0" anchor="t">
            <a:spAutoFit/>
          </a:bodyPr>
          <a:lstStyle/>
          <a:p>
            <a:pPr algn="ctr">
              <a:lnSpc>
                <a:spcPts val="6497"/>
              </a:lnSpc>
            </a:pPr>
            <a:r>
              <a:rPr lang="en-US" sz="8121" b="1">
                <a:solidFill>
                  <a:srgbClr val="252D37"/>
                </a:solidFill>
                <a:latin typeface="Cabin Bold"/>
                <a:ea typeface="Cabin Bold"/>
                <a:cs typeface="Cabin Bold"/>
                <a:sym typeface="Cabin Bold"/>
              </a:rPr>
              <a:t>OUTCOME</a:t>
            </a:r>
          </a:p>
        </p:txBody>
      </p:sp>
      <p:sp>
        <p:nvSpPr>
          <p:cNvPr id="6" name="TextBox 6"/>
          <p:cNvSpPr txBox="1"/>
          <p:nvPr/>
        </p:nvSpPr>
        <p:spPr>
          <a:xfrm>
            <a:off x="9139238" y="876300"/>
            <a:ext cx="9525" cy="1384384"/>
          </a:xfrm>
          <a:prstGeom prst="rect">
            <a:avLst/>
          </a:prstGeom>
        </p:spPr>
        <p:txBody>
          <a:bodyPr lIns="0" tIns="0" rIns="0" bIns="0" rtlCol="0" anchor="t">
            <a:spAutoFit/>
          </a:bodyPr>
          <a:lstStyle/>
          <a:p>
            <a:pPr algn="ctr">
              <a:lnSpc>
                <a:spcPts val="11370"/>
              </a:lnSpc>
              <a:spcBef>
                <a:spcPct val="0"/>
              </a:spcBef>
            </a:pPr>
            <a:endParaRPr/>
          </a:p>
        </p:txBody>
      </p:sp>
      <p:sp>
        <p:nvSpPr>
          <p:cNvPr id="7" name="TextBox 7"/>
          <p:cNvSpPr txBox="1"/>
          <p:nvPr/>
        </p:nvSpPr>
        <p:spPr>
          <a:xfrm>
            <a:off x="1845450" y="3473963"/>
            <a:ext cx="15444689" cy="3192477"/>
          </a:xfrm>
          <a:prstGeom prst="rect">
            <a:avLst/>
          </a:prstGeom>
        </p:spPr>
        <p:txBody>
          <a:bodyPr lIns="0" tIns="0" rIns="0" bIns="0" rtlCol="0" anchor="t">
            <a:spAutoFit/>
          </a:bodyPr>
          <a:lstStyle/>
          <a:p>
            <a:pPr marL="951692" lvl="1" indent="-571500" algn="l">
              <a:lnSpc>
                <a:spcPts val="4930"/>
              </a:lnSpc>
              <a:buFont typeface="Arial" panose="020B0604020202020204" pitchFamily="34" charset="0"/>
              <a:buChar char="•"/>
            </a:pPr>
            <a:r>
              <a:rPr lang="en-US" sz="3521" dirty="0">
                <a:solidFill>
                  <a:srgbClr val="252D37"/>
                </a:solidFill>
                <a:latin typeface="Cabin"/>
                <a:ea typeface="Cabin"/>
                <a:cs typeface="Cabin"/>
                <a:sym typeface="Cabin"/>
              </a:rPr>
              <a:t>Compared </a:t>
            </a:r>
            <a:r>
              <a:rPr lang="en-US" sz="3521" dirty="0" err="1">
                <a:solidFill>
                  <a:srgbClr val="252D37"/>
                </a:solidFill>
                <a:latin typeface="Cabin"/>
                <a:ea typeface="Cabin"/>
                <a:cs typeface="Cabin"/>
                <a:sym typeface="Cabin"/>
              </a:rPr>
              <a:t>tf-idf</a:t>
            </a:r>
            <a:r>
              <a:rPr lang="en-US" sz="3521" dirty="0">
                <a:solidFill>
                  <a:srgbClr val="252D37"/>
                </a:solidFill>
                <a:latin typeface="Cabin"/>
                <a:ea typeface="Cabin"/>
                <a:cs typeface="Cabin"/>
                <a:sym typeface="Cabin"/>
              </a:rPr>
              <a:t>, </a:t>
            </a:r>
            <a:r>
              <a:rPr lang="en-US" sz="3521" dirty="0" err="1">
                <a:solidFill>
                  <a:srgbClr val="252D37"/>
                </a:solidFill>
                <a:latin typeface="Cabin"/>
                <a:ea typeface="Cabin"/>
                <a:cs typeface="Cabin"/>
                <a:sym typeface="Cabin"/>
              </a:rPr>
              <a:t>bert</a:t>
            </a:r>
            <a:r>
              <a:rPr lang="en-US" sz="3521" dirty="0">
                <a:solidFill>
                  <a:srgbClr val="252D37"/>
                </a:solidFill>
                <a:latin typeface="Cabin"/>
                <a:ea typeface="Cabin"/>
                <a:cs typeface="Cabin"/>
                <a:sym typeface="Cabin"/>
              </a:rPr>
              <a:t>, and </a:t>
            </a:r>
            <a:r>
              <a:rPr lang="en-US" sz="3521" dirty="0" err="1">
                <a:solidFill>
                  <a:srgbClr val="252D37"/>
                </a:solidFill>
                <a:latin typeface="Cabin"/>
                <a:ea typeface="Cabin"/>
                <a:cs typeface="Cabin"/>
                <a:sym typeface="Cabin"/>
              </a:rPr>
              <a:t>roberta</a:t>
            </a:r>
            <a:endParaRPr lang="en-US" sz="3521" dirty="0">
              <a:solidFill>
                <a:srgbClr val="252D37"/>
              </a:solidFill>
              <a:latin typeface="Cabin"/>
              <a:ea typeface="Cabin"/>
              <a:cs typeface="Cabin"/>
              <a:sym typeface="Cabin"/>
            </a:endParaRPr>
          </a:p>
          <a:p>
            <a:pPr marL="760384" lvl="1" indent="-380192" algn="l">
              <a:lnSpc>
                <a:spcPts val="4930"/>
              </a:lnSpc>
              <a:buFont typeface="Arial"/>
              <a:buChar char="•"/>
            </a:pPr>
            <a:r>
              <a:rPr lang="en-US" sz="3521" dirty="0">
                <a:solidFill>
                  <a:srgbClr val="252D37"/>
                </a:solidFill>
                <a:latin typeface="Cabin"/>
                <a:ea typeface="Cabin"/>
                <a:cs typeface="Cabin"/>
                <a:sym typeface="Cabin"/>
              </a:rPr>
              <a:t>  Achieved best performance using </a:t>
            </a:r>
            <a:r>
              <a:rPr lang="en-US" sz="3521" dirty="0" err="1">
                <a:solidFill>
                  <a:srgbClr val="252D37"/>
                </a:solidFill>
                <a:latin typeface="Cabin"/>
                <a:ea typeface="Cabin"/>
                <a:cs typeface="Cabin"/>
                <a:sym typeface="Cabin"/>
              </a:rPr>
              <a:t>roberta</a:t>
            </a:r>
            <a:endParaRPr lang="en-US" sz="3521" dirty="0">
              <a:solidFill>
                <a:srgbClr val="252D37"/>
              </a:solidFill>
              <a:latin typeface="Cabin"/>
              <a:ea typeface="Cabin"/>
              <a:cs typeface="Cabin"/>
              <a:sym typeface="Cabin"/>
            </a:endParaRPr>
          </a:p>
          <a:p>
            <a:pPr marL="760384" lvl="1" indent="-380192" algn="l">
              <a:lnSpc>
                <a:spcPts val="4930"/>
              </a:lnSpc>
              <a:buFont typeface="Arial"/>
              <a:buChar char="•"/>
            </a:pPr>
            <a:r>
              <a:rPr lang="en-US" sz="3521" dirty="0">
                <a:solidFill>
                  <a:srgbClr val="252D37"/>
                </a:solidFill>
                <a:latin typeface="Cabin"/>
                <a:ea typeface="Cabin"/>
                <a:cs typeface="Cabin"/>
                <a:sym typeface="Cabin"/>
              </a:rPr>
              <a:t>  Implemented context-aware and conversation-based features</a:t>
            </a:r>
          </a:p>
          <a:p>
            <a:pPr marL="760384" lvl="1" indent="-380192" algn="l">
              <a:lnSpc>
                <a:spcPts val="4930"/>
              </a:lnSpc>
              <a:buFont typeface="Arial"/>
              <a:buChar char="•"/>
            </a:pPr>
            <a:r>
              <a:rPr lang="en-US" sz="3521" dirty="0">
                <a:solidFill>
                  <a:srgbClr val="252D37"/>
                </a:solidFill>
                <a:latin typeface="Cabin"/>
                <a:ea typeface="Cabin"/>
                <a:cs typeface="Cabin"/>
                <a:sym typeface="Cabin"/>
              </a:rPr>
              <a:t>  Drafted a research paper based on the project</a:t>
            </a:r>
          </a:p>
          <a:p>
            <a:pPr algn="l">
              <a:lnSpc>
                <a:spcPts val="5910"/>
              </a:lnSpc>
              <a:spcBef>
                <a:spcPct val="0"/>
              </a:spcBef>
            </a:pPr>
            <a:endParaRPr lang="en-US" sz="3521" dirty="0">
              <a:solidFill>
                <a:srgbClr val="252D37"/>
              </a:solidFill>
              <a:latin typeface="Cabin"/>
              <a:ea typeface="Cabin"/>
              <a:cs typeface="Cabin"/>
              <a:sym typeface="Cabi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170406" y="2654177"/>
            <a:ext cx="13947188" cy="7781290"/>
          </a:xfrm>
          <a:prstGeom prst="rect">
            <a:avLst/>
          </a:prstGeom>
        </p:spPr>
        <p:txBody>
          <a:bodyPr lIns="0" tIns="0" rIns="0" bIns="0" rtlCol="0" anchor="t">
            <a:spAutoFit/>
          </a:bodyPr>
          <a:lstStyle/>
          <a:p>
            <a:pPr algn="just">
              <a:lnSpc>
                <a:spcPts val="4759"/>
              </a:lnSpc>
            </a:pPr>
            <a:r>
              <a:rPr lang="en-US" sz="3399">
                <a:solidFill>
                  <a:srgbClr val="252930"/>
                </a:solidFill>
                <a:latin typeface="Cabin"/>
                <a:ea typeface="Cabin"/>
                <a:cs typeface="Cabin"/>
                <a:sym typeface="Cabin"/>
              </a:rPr>
              <a:t>[1] Devlin, J., Chang, M. W., Lee, K., and Toutanova, K. (2018). “BERT: Pre-training of Deep Bidirectional Transformers for Language Understanding.”</a:t>
            </a:r>
          </a:p>
          <a:p>
            <a:pPr algn="just">
              <a:lnSpc>
                <a:spcPts val="4759"/>
              </a:lnSpc>
            </a:pPr>
            <a:r>
              <a:rPr lang="en-US" sz="3399">
                <a:solidFill>
                  <a:srgbClr val="252930"/>
                </a:solidFill>
                <a:latin typeface="Cabin"/>
                <a:ea typeface="Cabin"/>
                <a:cs typeface="Cabin"/>
                <a:sym typeface="Cabin"/>
              </a:rPr>
              <a:t>[2] Liu, Y., Ott, M., Goyal, N., et al. (2019). “RoBERTa: A Robustly Optimized BERT Pretraining Approach.”</a:t>
            </a:r>
          </a:p>
          <a:p>
            <a:pPr algn="just">
              <a:lnSpc>
                <a:spcPts val="4759"/>
              </a:lnSpc>
            </a:pPr>
            <a:r>
              <a:rPr lang="en-US" sz="3399">
                <a:solidFill>
                  <a:srgbClr val="252930"/>
                </a:solidFill>
                <a:latin typeface="Cabin"/>
                <a:ea typeface="Cabin"/>
                <a:cs typeface="Cabin"/>
                <a:sym typeface="Cabin"/>
              </a:rPr>
              <a:t>[3] Pedregosa, F., Varoquaux, G., Gramfort, A., et al. (2011). “Scikit-learn: Machine Learning in Python.” Journal of Machine Learning Research.</a:t>
            </a:r>
          </a:p>
          <a:p>
            <a:pPr algn="just">
              <a:lnSpc>
                <a:spcPts val="4759"/>
              </a:lnSpc>
            </a:pPr>
            <a:r>
              <a:rPr lang="en-US" sz="3399">
                <a:solidFill>
                  <a:srgbClr val="252930"/>
                </a:solidFill>
                <a:latin typeface="Cabin"/>
                <a:ea typeface="Cabin"/>
                <a:cs typeface="Cabin"/>
                <a:sym typeface="Cabin"/>
              </a:rPr>
              <a:t>[4] Vaswani, A., Shazeer, N., Parmar, N., et al. (2017). “Attention is All You Need.” Advances in Neural Information Processing Systems.</a:t>
            </a:r>
          </a:p>
          <a:p>
            <a:pPr algn="just">
              <a:lnSpc>
                <a:spcPts val="4759"/>
              </a:lnSpc>
            </a:pPr>
            <a:r>
              <a:rPr lang="en-US" sz="3399">
                <a:solidFill>
                  <a:srgbClr val="252930"/>
                </a:solidFill>
                <a:latin typeface="Cabin"/>
                <a:ea typeface="Cabin"/>
                <a:cs typeface="Cabin"/>
                <a:sym typeface="Cabin"/>
              </a:rPr>
              <a:t>[5] HuggingFace. “Transformers Documentation.” Available at: </a:t>
            </a:r>
            <a:r>
              <a:rPr lang="en-US" sz="3399" u="sng">
                <a:solidFill>
                  <a:srgbClr val="252930"/>
                </a:solidFill>
                <a:latin typeface="Cabin"/>
                <a:ea typeface="Cabin"/>
                <a:cs typeface="Cabin"/>
                <a:sym typeface="Cabin"/>
                <a:hlinkClick r:id="rId2" tooltip="https://huggingface.co"/>
              </a:rPr>
              <a:t>https://huggingface.co</a:t>
            </a:r>
            <a:r>
              <a:rPr lang="en-US" sz="3399">
                <a:solidFill>
                  <a:srgbClr val="252930"/>
                </a:solidFill>
                <a:latin typeface="Cabin"/>
                <a:ea typeface="Cabin"/>
                <a:cs typeface="Cabin"/>
                <a:sym typeface="Cabin"/>
              </a:rPr>
              <a:t> (Accessed: 2026).</a:t>
            </a:r>
          </a:p>
          <a:p>
            <a:pPr algn="just">
              <a:lnSpc>
                <a:spcPts val="4759"/>
              </a:lnSpc>
            </a:pPr>
            <a:r>
              <a:rPr lang="en-US" sz="3399">
                <a:solidFill>
                  <a:srgbClr val="252930"/>
                </a:solidFill>
                <a:latin typeface="Cabin"/>
                <a:ea typeface="Cabin"/>
                <a:cs typeface="Cabin"/>
                <a:sym typeface="Cabin"/>
              </a:rPr>
              <a:t>[6] Kaggle. “Tweet Emotion Dataset.” Available at: </a:t>
            </a:r>
            <a:r>
              <a:rPr lang="en-US" sz="3399" u="sng">
                <a:solidFill>
                  <a:srgbClr val="252930"/>
                </a:solidFill>
                <a:latin typeface="Cabin"/>
                <a:ea typeface="Cabin"/>
                <a:cs typeface="Cabin"/>
                <a:sym typeface="Cabin"/>
                <a:hlinkClick r:id="rId3" tooltip="https://www.kaggle.com"/>
              </a:rPr>
              <a:t>https://www.kaggle.com</a:t>
            </a:r>
            <a:r>
              <a:rPr lang="en-US" sz="3399">
                <a:solidFill>
                  <a:srgbClr val="252930"/>
                </a:solidFill>
                <a:latin typeface="Cabin"/>
                <a:ea typeface="Cabin"/>
                <a:cs typeface="Cabin"/>
                <a:sym typeface="Cabin"/>
              </a:rPr>
              <a:t> (Accessed: 2026).</a:t>
            </a:r>
          </a:p>
          <a:p>
            <a:pPr algn="just">
              <a:lnSpc>
                <a:spcPts val="4759"/>
              </a:lnSpc>
            </a:pPr>
            <a:endParaRPr lang="en-US" sz="3399">
              <a:solidFill>
                <a:srgbClr val="252930"/>
              </a:solidFill>
              <a:latin typeface="Cabin"/>
              <a:ea typeface="Cabin"/>
              <a:cs typeface="Cabin"/>
              <a:sym typeface="Cabin"/>
            </a:endParaRPr>
          </a:p>
        </p:txBody>
      </p:sp>
      <p:sp>
        <p:nvSpPr>
          <p:cNvPr id="3" name="TextBox 3"/>
          <p:cNvSpPr txBox="1"/>
          <p:nvPr/>
        </p:nvSpPr>
        <p:spPr>
          <a:xfrm>
            <a:off x="2999625" y="1600200"/>
            <a:ext cx="12288749" cy="1038225"/>
          </a:xfrm>
          <a:prstGeom prst="rect">
            <a:avLst/>
          </a:prstGeom>
        </p:spPr>
        <p:txBody>
          <a:bodyPr lIns="0" tIns="0" rIns="0" bIns="0" rtlCol="0" anchor="t">
            <a:spAutoFit/>
          </a:bodyPr>
          <a:lstStyle/>
          <a:p>
            <a:pPr algn="ctr">
              <a:lnSpc>
                <a:spcPts val="7200"/>
              </a:lnSpc>
            </a:pPr>
            <a:r>
              <a:rPr lang="en-US" sz="9000" b="1">
                <a:solidFill>
                  <a:srgbClr val="252930"/>
                </a:solidFill>
                <a:latin typeface="Cabin Bold"/>
                <a:ea typeface="Cabin Bold"/>
                <a:cs typeface="Cabin Bold"/>
                <a:sym typeface="Cabin Bold"/>
              </a:rPr>
              <a:t>REFRENCE</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754150" y="3842247"/>
            <a:ext cx="12779699" cy="1781889"/>
          </a:xfrm>
          <a:prstGeom prst="rect">
            <a:avLst/>
          </a:prstGeom>
        </p:spPr>
        <p:txBody>
          <a:bodyPr lIns="0" tIns="0" rIns="0" bIns="0" rtlCol="0" anchor="t">
            <a:spAutoFit/>
          </a:bodyPr>
          <a:lstStyle/>
          <a:p>
            <a:pPr algn="ctr">
              <a:lnSpc>
                <a:spcPts val="12435"/>
              </a:lnSpc>
            </a:pPr>
            <a:r>
              <a:rPr lang="en-US" sz="15544" b="1">
                <a:solidFill>
                  <a:srgbClr val="252D37"/>
                </a:solidFill>
                <a:latin typeface="Cabin Bold"/>
                <a:ea typeface="Cabin Bold"/>
                <a:cs typeface="Cabin Bold"/>
                <a:sym typeface="Cabin Bold"/>
              </a:rPr>
              <a:t>Thank You</a:t>
            </a:r>
          </a:p>
        </p:txBody>
      </p:sp>
      <p:sp>
        <p:nvSpPr>
          <p:cNvPr id="3" name="Freeform 3"/>
          <p:cNvSpPr/>
          <p:nvPr/>
        </p:nvSpPr>
        <p:spPr>
          <a:xfrm>
            <a:off x="0" y="6974593"/>
            <a:ext cx="809919" cy="3227938"/>
          </a:xfrm>
          <a:custGeom>
            <a:avLst/>
            <a:gdLst/>
            <a:ahLst/>
            <a:cxnLst/>
            <a:rect l="l" t="t" r="r" b="b"/>
            <a:pathLst>
              <a:path w="809919" h="3227938">
                <a:moveTo>
                  <a:pt x="0" y="0"/>
                </a:moveTo>
                <a:lnTo>
                  <a:pt x="809919" y="0"/>
                </a:lnTo>
                <a:lnTo>
                  <a:pt x="809919" y="3227938"/>
                </a:lnTo>
                <a:lnTo>
                  <a:pt x="0" y="322793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613969" y="8304597"/>
            <a:ext cx="4261740" cy="2130870"/>
          </a:xfrm>
          <a:custGeom>
            <a:avLst/>
            <a:gdLst/>
            <a:ahLst/>
            <a:cxnLst/>
            <a:rect l="l" t="t" r="r" b="b"/>
            <a:pathLst>
              <a:path w="4261740" h="2130870">
                <a:moveTo>
                  <a:pt x="0" y="0"/>
                </a:moveTo>
                <a:lnTo>
                  <a:pt x="4261740" y="0"/>
                </a:lnTo>
                <a:lnTo>
                  <a:pt x="4261740" y="2130870"/>
                </a:lnTo>
                <a:lnTo>
                  <a:pt x="0" y="21308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10800000">
            <a:off x="17582856" y="118636"/>
            <a:ext cx="809919" cy="3227938"/>
          </a:xfrm>
          <a:custGeom>
            <a:avLst/>
            <a:gdLst/>
            <a:ahLst/>
            <a:cxnLst/>
            <a:rect l="l" t="t" r="r" b="b"/>
            <a:pathLst>
              <a:path w="809919" h="3227938">
                <a:moveTo>
                  <a:pt x="0" y="0"/>
                </a:moveTo>
                <a:lnTo>
                  <a:pt x="809919" y="0"/>
                </a:lnTo>
                <a:lnTo>
                  <a:pt x="809919" y="3227938"/>
                </a:lnTo>
                <a:lnTo>
                  <a:pt x="0" y="322793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Freeform 6"/>
          <p:cNvSpPr/>
          <p:nvPr/>
        </p:nvSpPr>
        <p:spPr>
          <a:xfrm rot="-10800000">
            <a:off x="12517066" y="-114300"/>
            <a:ext cx="4261740" cy="2130870"/>
          </a:xfrm>
          <a:custGeom>
            <a:avLst/>
            <a:gdLst/>
            <a:ahLst/>
            <a:cxnLst/>
            <a:rect l="l" t="t" r="r" b="b"/>
            <a:pathLst>
              <a:path w="4261740" h="2130870">
                <a:moveTo>
                  <a:pt x="0" y="0"/>
                </a:moveTo>
                <a:lnTo>
                  <a:pt x="4261740" y="0"/>
                </a:lnTo>
                <a:lnTo>
                  <a:pt x="4261740" y="2130870"/>
                </a:lnTo>
                <a:lnTo>
                  <a:pt x="0" y="21308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1042</Words>
  <Application>Microsoft Office PowerPoint</Application>
  <PresentationFormat>Custom</PresentationFormat>
  <Paragraphs>191</Paragraphs>
  <Slides>21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Maven Pro Bold</vt:lpstr>
      <vt:lpstr>Cabin</vt:lpstr>
      <vt:lpstr>Canva Sans</vt:lpstr>
      <vt:lpstr>Cabin Bold</vt:lpstr>
      <vt:lpstr>Calibri</vt:lpstr>
      <vt:lpstr>Canva Sans Bold</vt:lpstr>
      <vt:lpstr>Aptos</vt:lpstr>
      <vt:lpstr>Arimo</vt:lpstr>
      <vt:lpstr>Maven Pro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project</dc:title>
  <dc:creator>hp</dc:creator>
  <cp:lastModifiedBy>[BTECH-005-2023-24] KAKUL BARSIYA</cp:lastModifiedBy>
  <cp:revision>3</cp:revision>
  <dcterms:created xsi:type="dcterms:W3CDTF">2006-08-16T00:00:00Z</dcterms:created>
  <dcterms:modified xsi:type="dcterms:W3CDTF">2026-04-10T15:51:00Z</dcterms:modified>
  <dc:identifier>DAHBX_Ek9Vo</dc:identifier>
</cp:coreProperties>
</file>